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rachason Neue Expanded Bold" charset="1" panose="00000000000000000000"/>
      <p:regular r:id="rId15"/>
    </p:embeddedFont>
    <p:embeddedFont>
      <p:font typeface="Montserrat" charset="1" panose="00000500000000000000"/>
      <p:regular r:id="rId16"/>
    </p:embeddedFont>
    <p:embeddedFont>
      <p:font typeface="Montserrat Bold" charset="1" panose="00000800000000000000"/>
      <p:regular r:id="rId17"/>
    </p:embeddedFont>
    <p:embeddedFont>
      <p:font typeface="Montserrat Italic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5.jpeg" Type="http://schemas.openxmlformats.org/officeDocument/2006/relationships/image"/><Relationship Id="rId6" Target="../media/VAHTGXwAzzw.mp4" Type="http://schemas.openxmlformats.org/officeDocument/2006/relationships/video"/><Relationship Id="rId7" Target="../media/VAHTGXwAzzw.mp4" Type="http://schemas.microsoft.com/office/2007/relationships/media"/></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6.jpeg" Type="http://schemas.openxmlformats.org/officeDocument/2006/relationships/image"/><Relationship Id="rId4"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jpeg" Type="http://schemas.openxmlformats.org/officeDocument/2006/relationships/image"/><Relationship Id="rId5"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365964" y="6419555"/>
            <a:ext cx="10267498" cy="10267498"/>
          </a:xfrm>
          <a:custGeom>
            <a:avLst/>
            <a:gdLst/>
            <a:ahLst/>
            <a:cxnLst/>
            <a:rect r="r" b="b" t="t" l="l"/>
            <a:pathLst>
              <a:path h="10267498" w="10267498">
                <a:moveTo>
                  <a:pt x="0" y="0"/>
                </a:moveTo>
                <a:lnTo>
                  <a:pt x="10267498" y="0"/>
                </a:lnTo>
                <a:lnTo>
                  <a:pt x="10267498" y="10267498"/>
                </a:lnTo>
                <a:lnTo>
                  <a:pt x="0" y="10267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50222" y="-5597062"/>
            <a:ext cx="10846260" cy="8229600"/>
          </a:xfrm>
          <a:custGeom>
            <a:avLst/>
            <a:gdLst/>
            <a:ahLst/>
            <a:cxnLst/>
            <a:rect r="r" b="b" t="t" l="l"/>
            <a:pathLst>
              <a:path h="8229600" w="10846260">
                <a:moveTo>
                  <a:pt x="0" y="0"/>
                </a:moveTo>
                <a:lnTo>
                  <a:pt x="10846260" y="0"/>
                </a:lnTo>
                <a:lnTo>
                  <a:pt x="10846260" y="8229600"/>
                </a:lnTo>
                <a:lnTo>
                  <a:pt x="0" y="8229600"/>
                </a:lnTo>
                <a:lnTo>
                  <a:pt x="0" y="0"/>
                </a:lnTo>
                <a:close/>
              </a:path>
            </a:pathLst>
          </a:custGeom>
          <a:blipFill>
            <a:blip r:embed="rId4"/>
            <a:stretch>
              <a:fillRect l="0" t="0" r="0" b="0"/>
            </a:stretch>
          </a:blipFill>
        </p:spPr>
      </p:sp>
      <p:sp>
        <p:nvSpPr>
          <p:cNvPr name="TextBox 4" id="4"/>
          <p:cNvSpPr txBox="true"/>
          <p:nvPr/>
        </p:nvSpPr>
        <p:spPr>
          <a:xfrm rot="0">
            <a:off x="680004" y="3366019"/>
            <a:ext cx="16927991" cy="5564147"/>
          </a:xfrm>
          <a:prstGeom prst="rect">
            <a:avLst/>
          </a:prstGeom>
        </p:spPr>
        <p:txBody>
          <a:bodyPr anchor="t" rtlCol="false" tIns="0" lIns="0" bIns="0" rIns="0">
            <a:spAutoFit/>
          </a:bodyPr>
          <a:lstStyle/>
          <a:p>
            <a:pPr algn="ctr">
              <a:lnSpc>
                <a:spcPts val="12754"/>
              </a:lnSpc>
            </a:pPr>
            <a:r>
              <a:rPr lang="en-US" b="true" sz="11701" spc="-409">
                <a:solidFill>
                  <a:srgbClr val="FFFFFF"/>
                </a:solidFill>
                <a:latin typeface="Prachason Neue Expanded Bold"/>
                <a:ea typeface="Prachason Neue Expanded Bold"/>
                <a:cs typeface="Prachason Neue Expanded Bold"/>
                <a:sym typeface="Prachason Neue Expanded Bold"/>
              </a:rPr>
              <a:t>VIKTOR SMART ROUTER</a:t>
            </a:r>
          </a:p>
          <a:p>
            <a:pPr algn="ctr">
              <a:lnSpc>
                <a:spcPts val="12754"/>
              </a:lnSpc>
            </a:pPr>
          </a:p>
        </p:txBody>
      </p:sp>
      <p:sp>
        <p:nvSpPr>
          <p:cNvPr name="Freeform 5" id="5"/>
          <p:cNvSpPr/>
          <p:nvPr/>
        </p:nvSpPr>
        <p:spPr>
          <a:xfrm flipH="false" flipV="false" rot="-3326260">
            <a:off x="11657456" y="7438504"/>
            <a:ext cx="9500260" cy="8229600"/>
          </a:xfrm>
          <a:custGeom>
            <a:avLst/>
            <a:gdLst/>
            <a:ahLst/>
            <a:cxnLst/>
            <a:rect r="r" b="b" t="t" l="l"/>
            <a:pathLst>
              <a:path h="8229600" w="9500260">
                <a:moveTo>
                  <a:pt x="0" y="0"/>
                </a:moveTo>
                <a:lnTo>
                  <a:pt x="9500259" y="0"/>
                </a:lnTo>
                <a:lnTo>
                  <a:pt x="9500259" y="8229600"/>
                </a:lnTo>
                <a:lnTo>
                  <a:pt x="0" y="8229600"/>
                </a:lnTo>
                <a:lnTo>
                  <a:pt x="0" y="0"/>
                </a:lnTo>
                <a:close/>
              </a:path>
            </a:pathLst>
          </a:custGeom>
          <a:blipFill>
            <a:blip r:embed="rId5"/>
            <a:stretch>
              <a:fillRect l="0" t="0" r="0" b="0"/>
            </a:stretch>
          </a:blipFill>
        </p:spPr>
      </p:sp>
      <p:sp>
        <p:nvSpPr>
          <p:cNvPr name="TextBox 6" id="6"/>
          <p:cNvSpPr txBox="true"/>
          <p:nvPr/>
        </p:nvSpPr>
        <p:spPr>
          <a:xfrm rot="0">
            <a:off x="6673535" y="7503309"/>
            <a:ext cx="4940930" cy="444165"/>
          </a:xfrm>
          <a:prstGeom prst="rect">
            <a:avLst/>
          </a:prstGeom>
        </p:spPr>
        <p:txBody>
          <a:bodyPr anchor="t" rtlCol="false" tIns="0" lIns="0" bIns="0" rIns="0">
            <a:spAutoFit/>
          </a:bodyPr>
          <a:lstStyle/>
          <a:p>
            <a:pPr algn="ctr">
              <a:lnSpc>
                <a:spcPts val="3713"/>
              </a:lnSpc>
            </a:pPr>
            <a:r>
              <a:rPr lang="en-US" sz="2509" spc="582">
                <a:solidFill>
                  <a:srgbClr val="FFFFFF"/>
                </a:solidFill>
                <a:latin typeface="Montserrat"/>
                <a:ea typeface="Montserrat"/>
                <a:cs typeface="Montserrat"/>
                <a:sym typeface="Montserrat"/>
              </a:rPr>
              <a:t>NO WAY HOME</a:t>
            </a:r>
          </a:p>
        </p:txBody>
      </p:sp>
      <p:sp>
        <p:nvSpPr>
          <p:cNvPr name="Freeform 7" id="7"/>
          <p:cNvSpPr/>
          <p:nvPr/>
        </p:nvSpPr>
        <p:spPr>
          <a:xfrm flipH="false" flipV="false" rot="0">
            <a:off x="10978923" y="-4676538"/>
            <a:ext cx="7309077" cy="7309077"/>
          </a:xfrm>
          <a:custGeom>
            <a:avLst/>
            <a:gdLst/>
            <a:ahLst/>
            <a:cxnLst/>
            <a:rect r="r" b="b" t="t" l="l"/>
            <a:pathLst>
              <a:path h="7309077" w="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28644" y="6632462"/>
            <a:ext cx="7309077" cy="7309077"/>
          </a:xfrm>
          <a:custGeom>
            <a:avLst/>
            <a:gdLst/>
            <a:ahLst/>
            <a:cxnLst/>
            <a:rect r="r" b="b" t="t" l="l"/>
            <a:pathLst>
              <a:path h="7309077" w="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73241" y="742950"/>
            <a:ext cx="12686059" cy="1115695"/>
          </a:xfrm>
          <a:prstGeom prst="rect">
            <a:avLst/>
          </a:prstGeom>
        </p:spPr>
        <p:txBody>
          <a:bodyPr anchor="t" rtlCol="false" tIns="0" lIns="0" bIns="0" rIns="0">
            <a:spAutoFit/>
          </a:bodyPr>
          <a:lstStyle/>
          <a:p>
            <a:pPr algn="l">
              <a:lnSpc>
                <a:spcPts val="6214"/>
              </a:lnSpc>
            </a:pPr>
            <a:r>
              <a:rPr lang="en-US" b="true" sz="5499">
                <a:solidFill>
                  <a:srgbClr val="FFFFFF"/>
                </a:solidFill>
                <a:latin typeface="Prachason Neue Expanded Bold"/>
                <a:ea typeface="Prachason Neue Expanded Bold"/>
                <a:cs typeface="Prachason Neue Expanded Bold"/>
                <a:sym typeface="Prachason Neue Expanded Bold"/>
              </a:rPr>
              <a:t>WHAT WE ACHIEVED</a:t>
            </a:r>
          </a:p>
        </p:txBody>
      </p:sp>
      <p:sp>
        <p:nvSpPr>
          <p:cNvPr name="Freeform 4" id="4"/>
          <p:cNvSpPr/>
          <p:nvPr/>
        </p:nvSpPr>
        <p:spPr>
          <a:xfrm flipH="true" flipV="false" rot="-4249277">
            <a:off x="-7260895" y="80673"/>
            <a:ext cx="12131969" cy="9205131"/>
          </a:xfrm>
          <a:custGeom>
            <a:avLst/>
            <a:gdLst/>
            <a:ahLst/>
            <a:cxnLst/>
            <a:rect r="r" b="b" t="t" l="l"/>
            <a:pathLst>
              <a:path h="9205131" w="12131969">
                <a:moveTo>
                  <a:pt x="12131968" y="0"/>
                </a:moveTo>
                <a:lnTo>
                  <a:pt x="0" y="0"/>
                </a:lnTo>
                <a:lnTo>
                  <a:pt x="0" y="9205131"/>
                </a:lnTo>
                <a:lnTo>
                  <a:pt x="12131968" y="9205131"/>
                </a:lnTo>
                <a:lnTo>
                  <a:pt x="12131968" y="0"/>
                </a:lnTo>
                <a:close/>
              </a:path>
            </a:pathLst>
          </a:custGeom>
          <a:blipFill>
            <a:blip r:embed="rId4"/>
            <a:stretch>
              <a:fillRect l="0" t="0" r="0" b="0"/>
            </a:stretch>
          </a:blipFill>
        </p:spPr>
      </p:sp>
      <p:sp>
        <p:nvSpPr>
          <p:cNvPr name="Freeform 5" id="5"/>
          <p:cNvSpPr/>
          <p:nvPr/>
        </p:nvSpPr>
        <p:spPr>
          <a:xfrm flipH="false" flipV="false" rot="0">
            <a:off x="15740058" y="1028700"/>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573241" y="3118300"/>
            <a:ext cx="12319083" cy="5219477"/>
          </a:xfrm>
          <a:prstGeom prst="rect">
            <a:avLst/>
          </a:prstGeom>
        </p:spPr>
        <p:txBody>
          <a:bodyPr anchor="t" rtlCol="false" tIns="0" lIns="0" bIns="0" rIns="0">
            <a:spAutoFit/>
          </a:bodyPr>
          <a:lstStyle/>
          <a:p>
            <a:pPr algn="l" marL="0" indent="0" lvl="0">
              <a:lnSpc>
                <a:spcPts val="10114"/>
              </a:lnSpc>
            </a:pPr>
            <a:r>
              <a:rPr lang="en-US" b="true" sz="11114" spc="-100">
                <a:solidFill>
                  <a:srgbClr val="FFFFFF"/>
                </a:solidFill>
                <a:latin typeface="Montserrat Bold"/>
                <a:ea typeface="Montserrat Bold"/>
                <a:cs typeface="Montserrat Bold"/>
                <a:sym typeface="Montserrat Bold"/>
              </a:rPr>
              <a:t>Slashing Input Cost by 55.4% with </a:t>
            </a:r>
          </a:p>
          <a:p>
            <a:pPr algn="l" marL="0" indent="0" lvl="0">
              <a:lnSpc>
                <a:spcPts val="10114"/>
              </a:lnSpc>
            </a:pPr>
            <a:r>
              <a:rPr lang="en-US" b="true" sz="11114" spc="-100">
                <a:solidFill>
                  <a:srgbClr val="FFFFFF"/>
                </a:solidFill>
                <a:latin typeface="Montserrat Bold"/>
                <a:ea typeface="Montserrat Bold"/>
                <a:cs typeface="Montserrat Bold"/>
                <a:sym typeface="Montserrat Bold"/>
              </a:rPr>
              <a:t>0 switches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28644" y="6632462"/>
            <a:ext cx="7309077" cy="7309077"/>
          </a:xfrm>
          <a:custGeom>
            <a:avLst/>
            <a:gdLst/>
            <a:ahLst/>
            <a:cxnLst/>
            <a:rect r="r" b="b" t="t" l="l"/>
            <a:pathLst>
              <a:path h="7309077" w="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4249277">
            <a:off x="-7260895" y="80673"/>
            <a:ext cx="12131969" cy="9205131"/>
          </a:xfrm>
          <a:custGeom>
            <a:avLst/>
            <a:gdLst/>
            <a:ahLst/>
            <a:cxnLst/>
            <a:rect r="r" b="b" t="t" l="l"/>
            <a:pathLst>
              <a:path h="9205131" w="12131969">
                <a:moveTo>
                  <a:pt x="12131968" y="0"/>
                </a:moveTo>
                <a:lnTo>
                  <a:pt x="0" y="0"/>
                </a:lnTo>
                <a:lnTo>
                  <a:pt x="0" y="9205131"/>
                </a:lnTo>
                <a:lnTo>
                  <a:pt x="12131968" y="9205131"/>
                </a:lnTo>
                <a:lnTo>
                  <a:pt x="12131968" y="0"/>
                </a:lnTo>
                <a:close/>
              </a:path>
            </a:pathLst>
          </a:custGeom>
          <a:blipFill>
            <a:blip r:embed="rId4"/>
            <a:stretch>
              <a:fillRect l="0" t="0" r="0" b="0"/>
            </a:stretch>
          </a:blipFill>
        </p:spPr>
      </p:sp>
      <p:sp>
        <p:nvSpPr>
          <p:cNvPr name="Freeform 4" id="4"/>
          <p:cNvSpPr/>
          <p:nvPr/>
        </p:nvSpPr>
        <p:spPr>
          <a:xfrm flipH="false" flipV="false" rot="0">
            <a:off x="13080266" y="1770967"/>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5" id="5">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0" b="0"/>
          <a:stretch>
            <a:fillRect/>
          </a:stretch>
        </p:blipFill>
        <p:spPr>
          <a:xfrm flipH="false" flipV="false" rot="0">
            <a:off x="0" y="0"/>
            <a:ext cx="18288000" cy="102870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85800" y="1440180"/>
            <a:ext cx="16819045" cy="2316290"/>
            <a:chOff x="0" y="0"/>
            <a:chExt cx="22425393" cy="3088386"/>
          </a:xfrm>
        </p:grpSpPr>
        <p:sp>
          <p:nvSpPr>
            <p:cNvPr name="Freeform 3" id="3"/>
            <p:cNvSpPr/>
            <p:nvPr/>
          </p:nvSpPr>
          <p:spPr>
            <a:xfrm flipH="false" flipV="false" rot="0">
              <a:off x="0" y="0"/>
              <a:ext cx="22425392" cy="3088386"/>
            </a:xfrm>
            <a:custGeom>
              <a:avLst/>
              <a:gdLst/>
              <a:ahLst/>
              <a:cxnLst/>
              <a:rect r="r" b="b" t="t" l="l"/>
              <a:pathLst>
                <a:path h="3088386" w="22425392">
                  <a:moveTo>
                    <a:pt x="0" y="0"/>
                  </a:moveTo>
                  <a:lnTo>
                    <a:pt x="22425392" y="0"/>
                  </a:lnTo>
                  <a:lnTo>
                    <a:pt x="22425392" y="3088386"/>
                  </a:lnTo>
                  <a:lnTo>
                    <a:pt x="0" y="3088386"/>
                  </a:lnTo>
                  <a:close/>
                </a:path>
              </a:pathLst>
            </a:custGeom>
            <a:blipFill>
              <a:blip r:embed="rId2">
                <a:alphaModFix amt="0"/>
              </a:blip>
              <a:stretch>
                <a:fillRect l="0" t="-114137" r="-551" b="-70392"/>
              </a:stretch>
            </a:blipFill>
          </p:spPr>
        </p:sp>
        <p:sp>
          <p:nvSpPr>
            <p:cNvPr name="TextBox 4" id="4"/>
            <p:cNvSpPr txBox="true"/>
            <p:nvPr/>
          </p:nvSpPr>
          <p:spPr>
            <a:xfrm>
              <a:off x="0" y="-323850"/>
              <a:ext cx="22425393" cy="3412236"/>
            </a:xfrm>
            <a:prstGeom prst="rect">
              <a:avLst/>
            </a:prstGeom>
          </p:spPr>
          <p:txBody>
            <a:bodyPr anchor="ctr" rtlCol="false" tIns="0" lIns="0" bIns="0" rIns="0"/>
            <a:lstStyle/>
            <a:p>
              <a:pPr algn="l">
                <a:lnSpc>
                  <a:spcPts val="6839"/>
                </a:lnSpc>
              </a:pPr>
              <a:r>
                <a:rPr lang="en-US" b="true" sz="5700">
                  <a:solidFill>
                    <a:srgbClr val="FFFFFF"/>
                  </a:solidFill>
                  <a:latin typeface="Prachason Neue Expanded Bold"/>
                  <a:ea typeface="Prachason Neue Expanded Bold"/>
                  <a:cs typeface="Prachason Neue Expanded Bold"/>
                  <a:sym typeface="Prachason Neue Expanded Bold"/>
                </a:rPr>
                <a:t>Reroute before Call 1—not between calls</a:t>
              </a:r>
            </a:p>
          </p:txBody>
        </p:sp>
      </p:grpSp>
      <p:grpSp>
        <p:nvGrpSpPr>
          <p:cNvPr name="Group 5" id="5"/>
          <p:cNvGrpSpPr/>
          <p:nvPr/>
        </p:nvGrpSpPr>
        <p:grpSpPr>
          <a:xfrm rot="0">
            <a:off x="695344" y="4070029"/>
            <a:ext cx="2743200" cy="451199"/>
            <a:chOff x="0" y="0"/>
            <a:chExt cx="3657600" cy="601599"/>
          </a:xfrm>
        </p:grpSpPr>
        <p:sp>
          <p:nvSpPr>
            <p:cNvPr name="Freeform 6" id="6"/>
            <p:cNvSpPr/>
            <p:nvPr/>
          </p:nvSpPr>
          <p:spPr>
            <a:xfrm flipH="false" flipV="false" rot="0">
              <a:off x="0" y="0"/>
              <a:ext cx="3657600" cy="601599"/>
            </a:xfrm>
            <a:custGeom>
              <a:avLst/>
              <a:gdLst/>
              <a:ahLst/>
              <a:cxnLst/>
              <a:rect r="r" b="b" t="t" l="l"/>
              <a:pathLst>
                <a:path h="601599" w="3657600">
                  <a:moveTo>
                    <a:pt x="0" y="0"/>
                  </a:moveTo>
                  <a:lnTo>
                    <a:pt x="3657600" y="0"/>
                  </a:lnTo>
                  <a:lnTo>
                    <a:pt x="3657600" y="601599"/>
                  </a:lnTo>
                  <a:lnTo>
                    <a:pt x="0" y="601599"/>
                  </a:lnTo>
                  <a:close/>
                </a:path>
              </a:pathLst>
            </a:custGeom>
            <a:blipFill>
              <a:blip r:embed="rId2">
                <a:alphaModFix amt="0"/>
              </a:blip>
              <a:stretch>
                <a:fillRect l="0" t="-69826" r="0" b="-67103"/>
              </a:stretch>
            </a:blipFill>
          </p:spPr>
        </p:sp>
        <p:sp>
          <p:nvSpPr>
            <p:cNvPr name="TextBox 7" id="7"/>
            <p:cNvSpPr txBox="true"/>
            <p:nvPr/>
          </p:nvSpPr>
          <p:spPr>
            <a:xfrm>
              <a:off x="0" y="-9525"/>
              <a:ext cx="3657600" cy="611124"/>
            </a:xfrm>
            <a:prstGeom prst="rect">
              <a:avLst/>
            </a:prstGeom>
          </p:spPr>
          <p:txBody>
            <a:bodyPr anchor="ctr" rtlCol="false" tIns="0" lIns="0" bIns="0" rIns="0"/>
            <a:lstStyle/>
            <a:p>
              <a:pPr algn="l">
                <a:lnSpc>
                  <a:spcPts val="2700"/>
                </a:lnSpc>
              </a:pPr>
              <a:r>
                <a:rPr lang="en-US" b="true" sz="2250">
                  <a:solidFill>
                    <a:srgbClr val="FFFFFF"/>
                  </a:solidFill>
                  <a:latin typeface="Montserrat Bold"/>
                  <a:ea typeface="Montserrat Bold"/>
                  <a:cs typeface="Montserrat Bold"/>
                  <a:sym typeface="Montserrat Bold"/>
                </a:rPr>
                <a:t>Logged data</a:t>
              </a:r>
            </a:p>
          </p:txBody>
        </p:sp>
      </p:grpSp>
      <p:grpSp>
        <p:nvGrpSpPr>
          <p:cNvPr name="Group 8" id="8"/>
          <p:cNvGrpSpPr/>
          <p:nvPr/>
        </p:nvGrpSpPr>
        <p:grpSpPr>
          <a:xfrm rot="0">
            <a:off x="695344" y="4495225"/>
            <a:ext cx="2743200" cy="384048"/>
            <a:chOff x="0" y="0"/>
            <a:chExt cx="3657600" cy="512064"/>
          </a:xfrm>
        </p:grpSpPr>
        <p:sp>
          <p:nvSpPr>
            <p:cNvPr name="Freeform 9" id="9"/>
            <p:cNvSpPr/>
            <p:nvPr/>
          </p:nvSpPr>
          <p:spPr>
            <a:xfrm flipH="false" flipV="false" rot="0">
              <a:off x="0" y="0"/>
              <a:ext cx="3657600" cy="512064"/>
            </a:xfrm>
            <a:custGeom>
              <a:avLst/>
              <a:gdLst/>
              <a:ahLst/>
              <a:cxnLst/>
              <a:rect r="r" b="b" t="t" l="l"/>
              <a:pathLst>
                <a:path h="512064" w="3657600">
                  <a:moveTo>
                    <a:pt x="0" y="0"/>
                  </a:moveTo>
                  <a:lnTo>
                    <a:pt x="3657600" y="0"/>
                  </a:lnTo>
                  <a:lnTo>
                    <a:pt x="3657600" y="512064"/>
                  </a:lnTo>
                  <a:lnTo>
                    <a:pt x="0" y="512064"/>
                  </a:lnTo>
                  <a:close/>
                </a:path>
              </a:pathLst>
            </a:custGeom>
            <a:blipFill>
              <a:blip r:embed="rId2">
                <a:alphaModFix amt="0"/>
              </a:blip>
              <a:stretch>
                <a:fillRect l="0" t="-89178" r="0" b="-89178"/>
              </a:stretch>
            </a:blipFill>
          </p:spPr>
        </p:sp>
        <p:sp>
          <p:nvSpPr>
            <p:cNvPr name="TextBox 10" id="10"/>
            <p:cNvSpPr txBox="true"/>
            <p:nvPr/>
          </p:nvSpPr>
          <p:spPr>
            <a:xfrm>
              <a:off x="0" y="0"/>
              <a:ext cx="3657600" cy="512064"/>
            </a:xfrm>
            <a:prstGeom prst="rect">
              <a:avLst/>
            </a:prstGeom>
          </p:spPr>
          <p:txBody>
            <a:bodyPr anchor="ctr" rtlCol="false" tIns="0" lIns="0" bIns="0" rIns="0"/>
            <a:lstStyle/>
            <a:p>
              <a:pPr algn="l">
                <a:lnSpc>
                  <a:spcPts val="1889"/>
                </a:lnSpc>
              </a:pPr>
              <a:r>
                <a:rPr lang="en-US" sz="1575">
                  <a:solidFill>
                    <a:srgbClr val="FFFFFF"/>
                  </a:solidFill>
                  <a:latin typeface="Montserrat"/>
                  <a:ea typeface="Montserrat"/>
                  <a:cs typeface="Montserrat"/>
                  <a:sym typeface="Montserrat"/>
                </a:rPr>
                <a:t>claude-opus-4-8 · 197b…</a:t>
              </a:r>
            </a:p>
          </p:txBody>
        </p:sp>
      </p:grpSp>
      <p:grpSp>
        <p:nvGrpSpPr>
          <p:cNvPr name="Group 11" id="11"/>
          <p:cNvGrpSpPr/>
          <p:nvPr/>
        </p:nvGrpSpPr>
        <p:grpSpPr>
          <a:xfrm rot="0">
            <a:off x="3634759" y="4019356"/>
            <a:ext cx="1308354" cy="869442"/>
            <a:chOff x="0" y="0"/>
            <a:chExt cx="1744472" cy="1159256"/>
          </a:xfrm>
        </p:grpSpPr>
        <p:sp>
          <p:nvSpPr>
            <p:cNvPr name="Freeform 12" id="12"/>
            <p:cNvSpPr/>
            <p:nvPr/>
          </p:nvSpPr>
          <p:spPr>
            <a:xfrm flipH="false" flipV="false" rot="0">
              <a:off x="0" y="0"/>
              <a:ext cx="1744472" cy="1159256"/>
            </a:xfrm>
            <a:custGeom>
              <a:avLst/>
              <a:gdLst/>
              <a:ahLst/>
              <a:cxnLst/>
              <a:rect r="r" b="b" t="t" l="l"/>
              <a:pathLst>
                <a:path h="1159256" w="1744472">
                  <a:moveTo>
                    <a:pt x="0" y="130937"/>
                  </a:moveTo>
                  <a:cubicBezTo>
                    <a:pt x="0" y="58547"/>
                    <a:pt x="58547" y="0"/>
                    <a:pt x="130937" y="0"/>
                  </a:cubicBezTo>
                  <a:lnTo>
                    <a:pt x="1613535" y="0"/>
                  </a:lnTo>
                  <a:cubicBezTo>
                    <a:pt x="1685798" y="0"/>
                    <a:pt x="1744472" y="58547"/>
                    <a:pt x="1744472" y="130937"/>
                  </a:cubicBezTo>
                  <a:lnTo>
                    <a:pt x="1744472" y="1028319"/>
                  </a:lnTo>
                  <a:cubicBezTo>
                    <a:pt x="1744472" y="1100582"/>
                    <a:pt x="1685925" y="1159256"/>
                    <a:pt x="1613535" y="1159256"/>
                  </a:cubicBezTo>
                  <a:lnTo>
                    <a:pt x="130937" y="1159256"/>
                  </a:lnTo>
                  <a:cubicBezTo>
                    <a:pt x="58547" y="1159256"/>
                    <a:pt x="0" y="1100709"/>
                    <a:pt x="0" y="1028319"/>
                  </a:cubicBezTo>
                  <a:close/>
                </a:path>
              </a:pathLst>
            </a:custGeom>
            <a:solidFill>
              <a:srgbClr val="DAD6F7"/>
            </a:solidFill>
            <a:ln w="19050" cap="sq">
              <a:solidFill>
                <a:srgbClr val="B9B0EE"/>
              </a:solidFill>
              <a:prstDash val="solid"/>
              <a:miter/>
            </a:ln>
          </p:spPr>
        </p:sp>
      </p:grpSp>
      <p:grpSp>
        <p:nvGrpSpPr>
          <p:cNvPr name="Group 13" id="13"/>
          <p:cNvGrpSpPr/>
          <p:nvPr/>
        </p:nvGrpSpPr>
        <p:grpSpPr>
          <a:xfrm rot="0">
            <a:off x="3644284" y="4070029"/>
            <a:ext cx="1289304" cy="768096"/>
            <a:chOff x="0" y="0"/>
            <a:chExt cx="1719072" cy="1024128"/>
          </a:xfrm>
        </p:grpSpPr>
        <p:sp>
          <p:nvSpPr>
            <p:cNvPr name="Freeform 14" id="14"/>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15" id="15"/>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150079"/>
                  </a:solidFill>
                  <a:latin typeface="Montserrat Bold"/>
                  <a:ea typeface="Montserrat Bold"/>
                  <a:cs typeface="Montserrat Bold"/>
                  <a:sym typeface="Montserrat Bold"/>
                </a:rPr>
                <a:t>C1</a:t>
              </a:r>
            </a:p>
            <a:p>
              <a:pPr algn="ctr">
                <a:lnSpc>
                  <a:spcPts val="1984"/>
                </a:lnSpc>
              </a:pPr>
              <a:r>
                <a:rPr lang="en-US" sz="1575" b="true">
                  <a:solidFill>
                    <a:srgbClr val="150079"/>
                  </a:solidFill>
                  <a:latin typeface="Montserrat Bold"/>
                  <a:ea typeface="Montserrat Bold"/>
                  <a:cs typeface="Montserrat Bold"/>
                  <a:sym typeface="Montserrat Bold"/>
                </a:rPr>
                <a:t>Opus</a:t>
              </a:r>
            </a:p>
          </p:txBody>
        </p:sp>
      </p:grpSp>
      <p:grpSp>
        <p:nvGrpSpPr>
          <p:cNvPr name="Group 16" id="16"/>
          <p:cNvGrpSpPr/>
          <p:nvPr/>
        </p:nvGrpSpPr>
        <p:grpSpPr>
          <a:xfrm rot="0">
            <a:off x="5047507" y="4019356"/>
            <a:ext cx="1308354" cy="869442"/>
            <a:chOff x="0" y="0"/>
            <a:chExt cx="1744472" cy="1159256"/>
          </a:xfrm>
        </p:grpSpPr>
        <p:sp>
          <p:nvSpPr>
            <p:cNvPr name="Freeform 17" id="17"/>
            <p:cNvSpPr/>
            <p:nvPr/>
          </p:nvSpPr>
          <p:spPr>
            <a:xfrm flipH="false" flipV="false" rot="0">
              <a:off x="0" y="0"/>
              <a:ext cx="1744472" cy="1159256"/>
            </a:xfrm>
            <a:custGeom>
              <a:avLst/>
              <a:gdLst/>
              <a:ahLst/>
              <a:cxnLst/>
              <a:rect r="r" b="b" t="t" l="l"/>
              <a:pathLst>
                <a:path h="1159256" w="1744472">
                  <a:moveTo>
                    <a:pt x="0" y="130937"/>
                  </a:moveTo>
                  <a:cubicBezTo>
                    <a:pt x="0" y="58547"/>
                    <a:pt x="58547" y="0"/>
                    <a:pt x="130937" y="0"/>
                  </a:cubicBezTo>
                  <a:lnTo>
                    <a:pt x="1613535" y="0"/>
                  </a:lnTo>
                  <a:cubicBezTo>
                    <a:pt x="1685798" y="0"/>
                    <a:pt x="1744472" y="58547"/>
                    <a:pt x="1744472" y="130937"/>
                  </a:cubicBezTo>
                  <a:lnTo>
                    <a:pt x="1744472" y="1028319"/>
                  </a:lnTo>
                  <a:cubicBezTo>
                    <a:pt x="1744472" y="1100582"/>
                    <a:pt x="1685925" y="1159256"/>
                    <a:pt x="1613535" y="1159256"/>
                  </a:cubicBezTo>
                  <a:lnTo>
                    <a:pt x="130937" y="1159256"/>
                  </a:lnTo>
                  <a:cubicBezTo>
                    <a:pt x="58547" y="1159256"/>
                    <a:pt x="0" y="1100709"/>
                    <a:pt x="0" y="1028319"/>
                  </a:cubicBezTo>
                  <a:close/>
                </a:path>
              </a:pathLst>
            </a:custGeom>
            <a:solidFill>
              <a:srgbClr val="DAD6F7"/>
            </a:solidFill>
            <a:ln w="19050" cap="sq">
              <a:solidFill>
                <a:srgbClr val="B9B0EE"/>
              </a:solidFill>
              <a:prstDash val="solid"/>
              <a:miter/>
            </a:ln>
          </p:spPr>
        </p:sp>
      </p:grpSp>
      <p:grpSp>
        <p:nvGrpSpPr>
          <p:cNvPr name="Group 18" id="18"/>
          <p:cNvGrpSpPr/>
          <p:nvPr/>
        </p:nvGrpSpPr>
        <p:grpSpPr>
          <a:xfrm rot="0">
            <a:off x="5057032" y="4070029"/>
            <a:ext cx="1289304" cy="768096"/>
            <a:chOff x="0" y="0"/>
            <a:chExt cx="1719072" cy="1024128"/>
          </a:xfrm>
        </p:grpSpPr>
        <p:sp>
          <p:nvSpPr>
            <p:cNvPr name="Freeform 19" id="19"/>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20" id="20"/>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150079"/>
                  </a:solidFill>
                  <a:latin typeface="Montserrat Bold"/>
                  <a:ea typeface="Montserrat Bold"/>
                  <a:cs typeface="Montserrat Bold"/>
                  <a:sym typeface="Montserrat Bold"/>
                </a:rPr>
                <a:t>C2</a:t>
              </a:r>
            </a:p>
            <a:p>
              <a:pPr algn="ctr">
                <a:lnSpc>
                  <a:spcPts val="1984"/>
                </a:lnSpc>
              </a:pPr>
              <a:r>
                <a:rPr lang="en-US" sz="1575" b="true">
                  <a:solidFill>
                    <a:srgbClr val="150079"/>
                  </a:solidFill>
                  <a:latin typeface="Montserrat Bold"/>
                  <a:ea typeface="Montserrat Bold"/>
                  <a:cs typeface="Montserrat Bold"/>
                  <a:sym typeface="Montserrat Bold"/>
                </a:rPr>
                <a:t>Opus</a:t>
              </a:r>
            </a:p>
          </p:txBody>
        </p:sp>
      </p:grpSp>
      <p:grpSp>
        <p:nvGrpSpPr>
          <p:cNvPr name="Group 21" id="21"/>
          <p:cNvGrpSpPr/>
          <p:nvPr/>
        </p:nvGrpSpPr>
        <p:grpSpPr>
          <a:xfrm rot="0">
            <a:off x="6460255" y="4019356"/>
            <a:ext cx="1308354" cy="869442"/>
            <a:chOff x="0" y="0"/>
            <a:chExt cx="1744472" cy="1159256"/>
          </a:xfrm>
        </p:grpSpPr>
        <p:sp>
          <p:nvSpPr>
            <p:cNvPr name="Freeform 22" id="22"/>
            <p:cNvSpPr/>
            <p:nvPr/>
          </p:nvSpPr>
          <p:spPr>
            <a:xfrm flipH="false" flipV="false" rot="0">
              <a:off x="0" y="0"/>
              <a:ext cx="1744472" cy="1159256"/>
            </a:xfrm>
            <a:custGeom>
              <a:avLst/>
              <a:gdLst/>
              <a:ahLst/>
              <a:cxnLst/>
              <a:rect r="r" b="b" t="t" l="l"/>
              <a:pathLst>
                <a:path h="1159256" w="1744472">
                  <a:moveTo>
                    <a:pt x="0" y="130937"/>
                  </a:moveTo>
                  <a:cubicBezTo>
                    <a:pt x="0" y="58547"/>
                    <a:pt x="58547" y="0"/>
                    <a:pt x="130937" y="0"/>
                  </a:cubicBezTo>
                  <a:lnTo>
                    <a:pt x="1613535" y="0"/>
                  </a:lnTo>
                  <a:cubicBezTo>
                    <a:pt x="1685798" y="0"/>
                    <a:pt x="1744472" y="58547"/>
                    <a:pt x="1744472" y="130937"/>
                  </a:cubicBezTo>
                  <a:lnTo>
                    <a:pt x="1744472" y="1028319"/>
                  </a:lnTo>
                  <a:cubicBezTo>
                    <a:pt x="1744472" y="1100582"/>
                    <a:pt x="1685925" y="1159256"/>
                    <a:pt x="1613535" y="1159256"/>
                  </a:cubicBezTo>
                  <a:lnTo>
                    <a:pt x="130937" y="1159256"/>
                  </a:lnTo>
                  <a:cubicBezTo>
                    <a:pt x="58547" y="1159256"/>
                    <a:pt x="0" y="1100709"/>
                    <a:pt x="0" y="1028319"/>
                  </a:cubicBezTo>
                  <a:close/>
                </a:path>
              </a:pathLst>
            </a:custGeom>
            <a:solidFill>
              <a:srgbClr val="DAD6F7"/>
            </a:solidFill>
            <a:ln w="19050" cap="sq">
              <a:solidFill>
                <a:srgbClr val="B9B0EE"/>
              </a:solidFill>
              <a:prstDash val="solid"/>
              <a:miter/>
            </a:ln>
          </p:spPr>
        </p:sp>
      </p:grpSp>
      <p:grpSp>
        <p:nvGrpSpPr>
          <p:cNvPr name="Group 23" id="23"/>
          <p:cNvGrpSpPr/>
          <p:nvPr/>
        </p:nvGrpSpPr>
        <p:grpSpPr>
          <a:xfrm rot="0">
            <a:off x="6469780" y="4070029"/>
            <a:ext cx="1289304" cy="768096"/>
            <a:chOff x="0" y="0"/>
            <a:chExt cx="1719072" cy="1024128"/>
          </a:xfrm>
        </p:grpSpPr>
        <p:sp>
          <p:nvSpPr>
            <p:cNvPr name="Freeform 24" id="24"/>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25" id="25"/>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150079"/>
                  </a:solidFill>
                  <a:latin typeface="Montserrat Bold"/>
                  <a:ea typeface="Montserrat Bold"/>
                  <a:cs typeface="Montserrat Bold"/>
                  <a:sym typeface="Montserrat Bold"/>
                </a:rPr>
                <a:t>C3</a:t>
              </a:r>
            </a:p>
            <a:p>
              <a:pPr algn="ctr">
                <a:lnSpc>
                  <a:spcPts val="1984"/>
                </a:lnSpc>
              </a:pPr>
              <a:r>
                <a:rPr lang="en-US" sz="1575" b="true">
                  <a:solidFill>
                    <a:srgbClr val="150079"/>
                  </a:solidFill>
                  <a:latin typeface="Montserrat Bold"/>
                  <a:ea typeface="Montserrat Bold"/>
                  <a:cs typeface="Montserrat Bold"/>
                  <a:sym typeface="Montserrat Bold"/>
                </a:rPr>
                <a:t>Opus</a:t>
              </a:r>
            </a:p>
          </p:txBody>
        </p:sp>
      </p:grpSp>
      <p:grpSp>
        <p:nvGrpSpPr>
          <p:cNvPr name="Group 26" id="26"/>
          <p:cNvGrpSpPr/>
          <p:nvPr/>
        </p:nvGrpSpPr>
        <p:grpSpPr>
          <a:xfrm rot="0">
            <a:off x="7873003" y="4019356"/>
            <a:ext cx="1308354" cy="869442"/>
            <a:chOff x="0" y="0"/>
            <a:chExt cx="1744472" cy="1159256"/>
          </a:xfrm>
        </p:grpSpPr>
        <p:sp>
          <p:nvSpPr>
            <p:cNvPr name="Freeform 27" id="27"/>
            <p:cNvSpPr/>
            <p:nvPr/>
          </p:nvSpPr>
          <p:spPr>
            <a:xfrm flipH="false" flipV="false" rot="0">
              <a:off x="0" y="0"/>
              <a:ext cx="1744472" cy="1159256"/>
            </a:xfrm>
            <a:custGeom>
              <a:avLst/>
              <a:gdLst/>
              <a:ahLst/>
              <a:cxnLst/>
              <a:rect r="r" b="b" t="t" l="l"/>
              <a:pathLst>
                <a:path h="1159256" w="1744472">
                  <a:moveTo>
                    <a:pt x="0" y="130937"/>
                  </a:moveTo>
                  <a:cubicBezTo>
                    <a:pt x="0" y="58547"/>
                    <a:pt x="58547" y="0"/>
                    <a:pt x="130937" y="0"/>
                  </a:cubicBezTo>
                  <a:lnTo>
                    <a:pt x="1613535" y="0"/>
                  </a:lnTo>
                  <a:cubicBezTo>
                    <a:pt x="1685798" y="0"/>
                    <a:pt x="1744472" y="58547"/>
                    <a:pt x="1744472" y="130937"/>
                  </a:cubicBezTo>
                  <a:lnTo>
                    <a:pt x="1744472" y="1028319"/>
                  </a:lnTo>
                  <a:cubicBezTo>
                    <a:pt x="1744472" y="1100582"/>
                    <a:pt x="1685925" y="1159256"/>
                    <a:pt x="1613535" y="1159256"/>
                  </a:cubicBezTo>
                  <a:lnTo>
                    <a:pt x="130937" y="1159256"/>
                  </a:lnTo>
                  <a:cubicBezTo>
                    <a:pt x="58547" y="1159256"/>
                    <a:pt x="0" y="1100709"/>
                    <a:pt x="0" y="1028319"/>
                  </a:cubicBezTo>
                  <a:close/>
                </a:path>
              </a:pathLst>
            </a:custGeom>
            <a:solidFill>
              <a:srgbClr val="DAD6F7"/>
            </a:solidFill>
            <a:ln w="19050" cap="sq">
              <a:solidFill>
                <a:srgbClr val="B9B0EE"/>
              </a:solidFill>
              <a:prstDash val="solid"/>
              <a:miter/>
            </a:ln>
          </p:spPr>
        </p:sp>
      </p:grpSp>
      <p:grpSp>
        <p:nvGrpSpPr>
          <p:cNvPr name="Group 28" id="28"/>
          <p:cNvGrpSpPr/>
          <p:nvPr/>
        </p:nvGrpSpPr>
        <p:grpSpPr>
          <a:xfrm rot="0">
            <a:off x="7882528" y="4070029"/>
            <a:ext cx="1289304" cy="768096"/>
            <a:chOff x="0" y="0"/>
            <a:chExt cx="1719072" cy="1024128"/>
          </a:xfrm>
        </p:grpSpPr>
        <p:sp>
          <p:nvSpPr>
            <p:cNvPr name="Freeform 29" id="29"/>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30" id="30"/>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150079"/>
                  </a:solidFill>
                  <a:latin typeface="Montserrat Bold"/>
                  <a:ea typeface="Montserrat Bold"/>
                  <a:cs typeface="Montserrat Bold"/>
                  <a:sym typeface="Montserrat Bold"/>
                </a:rPr>
                <a:t>C4</a:t>
              </a:r>
            </a:p>
            <a:p>
              <a:pPr algn="ctr">
                <a:lnSpc>
                  <a:spcPts val="1984"/>
                </a:lnSpc>
              </a:pPr>
              <a:r>
                <a:rPr lang="en-US" sz="1575" b="true">
                  <a:solidFill>
                    <a:srgbClr val="150079"/>
                  </a:solidFill>
                  <a:latin typeface="Montserrat Bold"/>
                  <a:ea typeface="Montserrat Bold"/>
                  <a:cs typeface="Montserrat Bold"/>
                  <a:sym typeface="Montserrat Bold"/>
                </a:rPr>
                <a:t>Opus</a:t>
              </a:r>
            </a:p>
          </p:txBody>
        </p:sp>
      </p:grpSp>
      <p:grpSp>
        <p:nvGrpSpPr>
          <p:cNvPr name="Group 31" id="31"/>
          <p:cNvGrpSpPr/>
          <p:nvPr/>
        </p:nvGrpSpPr>
        <p:grpSpPr>
          <a:xfrm rot="0">
            <a:off x="9285751" y="4019356"/>
            <a:ext cx="1308354" cy="869442"/>
            <a:chOff x="0" y="0"/>
            <a:chExt cx="1744472" cy="1159256"/>
          </a:xfrm>
        </p:grpSpPr>
        <p:sp>
          <p:nvSpPr>
            <p:cNvPr name="Freeform 32" id="32"/>
            <p:cNvSpPr/>
            <p:nvPr/>
          </p:nvSpPr>
          <p:spPr>
            <a:xfrm flipH="false" flipV="false" rot="0">
              <a:off x="0" y="0"/>
              <a:ext cx="1744472" cy="1159256"/>
            </a:xfrm>
            <a:custGeom>
              <a:avLst/>
              <a:gdLst/>
              <a:ahLst/>
              <a:cxnLst/>
              <a:rect r="r" b="b" t="t" l="l"/>
              <a:pathLst>
                <a:path h="1159256" w="1744472">
                  <a:moveTo>
                    <a:pt x="0" y="130937"/>
                  </a:moveTo>
                  <a:cubicBezTo>
                    <a:pt x="0" y="58547"/>
                    <a:pt x="58547" y="0"/>
                    <a:pt x="130937" y="0"/>
                  </a:cubicBezTo>
                  <a:lnTo>
                    <a:pt x="1613535" y="0"/>
                  </a:lnTo>
                  <a:cubicBezTo>
                    <a:pt x="1685798" y="0"/>
                    <a:pt x="1744472" y="58547"/>
                    <a:pt x="1744472" y="130937"/>
                  </a:cubicBezTo>
                  <a:lnTo>
                    <a:pt x="1744472" y="1028319"/>
                  </a:lnTo>
                  <a:cubicBezTo>
                    <a:pt x="1744472" y="1100582"/>
                    <a:pt x="1685925" y="1159256"/>
                    <a:pt x="1613535" y="1159256"/>
                  </a:cubicBezTo>
                  <a:lnTo>
                    <a:pt x="130937" y="1159256"/>
                  </a:lnTo>
                  <a:cubicBezTo>
                    <a:pt x="58547" y="1159256"/>
                    <a:pt x="0" y="1100709"/>
                    <a:pt x="0" y="1028319"/>
                  </a:cubicBezTo>
                  <a:close/>
                </a:path>
              </a:pathLst>
            </a:custGeom>
            <a:solidFill>
              <a:srgbClr val="DAD6F7"/>
            </a:solidFill>
            <a:ln w="19050" cap="sq">
              <a:solidFill>
                <a:srgbClr val="B9B0EE"/>
              </a:solidFill>
              <a:prstDash val="solid"/>
              <a:miter/>
            </a:ln>
          </p:spPr>
        </p:sp>
      </p:grpSp>
      <p:grpSp>
        <p:nvGrpSpPr>
          <p:cNvPr name="Group 33" id="33"/>
          <p:cNvGrpSpPr/>
          <p:nvPr/>
        </p:nvGrpSpPr>
        <p:grpSpPr>
          <a:xfrm rot="0">
            <a:off x="9295276" y="4070029"/>
            <a:ext cx="1289304" cy="768096"/>
            <a:chOff x="0" y="0"/>
            <a:chExt cx="1719072" cy="1024128"/>
          </a:xfrm>
        </p:grpSpPr>
        <p:sp>
          <p:nvSpPr>
            <p:cNvPr name="Freeform 34" id="34"/>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35" id="35"/>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150079"/>
                  </a:solidFill>
                  <a:latin typeface="Montserrat Bold"/>
                  <a:ea typeface="Montserrat Bold"/>
                  <a:cs typeface="Montserrat Bold"/>
                  <a:sym typeface="Montserrat Bold"/>
                </a:rPr>
                <a:t>C5</a:t>
              </a:r>
            </a:p>
            <a:p>
              <a:pPr algn="ctr">
                <a:lnSpc>
                  <a:spcPts val="1984"/>
                </a:lnSpc>
              </a:pPr>
              <a:r>
                <a:rPr lang="en-US" sz="1575" b="true">
                  <a:solidFill>
                    <a:srgbClr val="150079"/>
                  </a:solidFill>
                  <a:latin typeface="Montserrat Bold"/>
                  <a:ea typeface="Montserrat Bold"/>
                  <a:cs typeface="Montserrat Bold"/>
                  <a:sym typeface="Montserrat Bold"/>
                </a:rPr>
                <a:t>Opus</a:t>
              </a:r>
            </a:p>
          </p:txBody>
        </p:sp>
      </p:grpSp>
      <p:grpSp>
        <p:nvGrpSpPr>
          <p:cNvPr name="Group 36" id="36"/>
          <p:cNvGrpSpPr/>
          <p:nvPr/>
        </p:nvGrpSpPr>
        <p:grpSpPr>
          <a:xfrm rot="0">
            <a:off x="10698499" y="4019356"/>
            <a:ext cx="1308354" cy="869442"/>
            <a:chOff x="0" y="0"/>
            <a:chExt cx="1744472" cy="1159256"/>
          </a:xfrm>
        </p:grpSpPr>
        <p:sp>
          <p:nvSpPr>
            <p:cNvPr name="Freeform 37" id="37"/>
            <p:cNvSpPr/>
            <p:nvPr/>
          </p:nvSpPr>
          <p:spPr>
            <a:xfrm flipH="false" flipV="false" rot="0">
              <a:off x="0" y="0"/>
              <a:ext cx="1744472" cy="1159256"/>
            </a:xfrm>
            <a:custGeom>
              <a:avLst/>
              <a:gdLst/>
              <a:ahLst/>
              <a:cxnLst/>
              <a:rect r="r" b="b" t="t" l="l"/>
              <a:pathLst>
                <a:path h="1159256" w="1744472">
                  <a:moveTo>
                    <a:pt x="0" y="130937"/>
                  </a:moveTo>
                  <a:cubicBezTo>
                    <a:pt x="0" y="58547"/>
                    <a:pt x="58547" y="0"/>
                    <a:pt x="130937" y="0"/>
                  </a:cubicBezTo>
                  <a:lnTo>
                    <a:pt x="1613535" y="0"/>
                  </a:lnTo>
                  <a:cubicBezTo>
                    <a:pt x="1685798" y="0"/>
                    <a:pt x="1744472" y="58547"/>
                    <a:pt x="1744472" y="130937"/>
                  </a:cubicBezTo>
                  <a:lnTo>
                    <a:pt x="1744472" y="1028319"/>
                  </a:lnTo>
                  <a:cubicBezTo>
                    <a:pt x="1744472" y="1100582"/>
                    <a:pt x="1685925" y="1159256"/>
                    <a:pt x="1613535" y="1159256"/>
                  </a:cubicBezTo>
                  <a:lnTo>
                    <a:pt x="130937" y="1159256"/>
                  </a:lnTo>
                  <a:cubicBezTo>
                    <a:pt x="58547" y="1159256"/>
                    <a:pt x="0" y="1100709"/>
                    <a:pt x="0" y="1028319"/>
                  </a:cubicBezTo>
                  <a:close/>
                </a:path>
              </a:pathLst>
            </a:custGeom>
            <a:solidFill>
              <a:srgbClr val="DAD6F7"/>
            </a:solidFill>
            <a:ln w="19050" cap="sq">
              <a:solidFill>
                <a:srgbClr val="B9B0EE"/>
              </a:solidFill>
              <a:prstDash val="solid"/>
              <a:miter/>
            </a:ln>
          </p:spPr>
        </p:sp>
      </p:grpSp>
      <p:grpSp>
        <p:nvGrpSpPr>
          <p:cNvPr name="Group 38" id="38"/>
          <p:cNvGrpSpPr/>
          <p:nvPr/>
        </p:nvGrpSpPr>
        <p:grpSpPr>
          <a:xfrm rot="0">
            <a:off x="10708024" y="4070029"/>
            <a:ext cx="1289304" cy="768096"/>
            <a:chOff x="0" y="0"/>
            <a:chExt cx="1719072" cy="1024128"/>
          </a:xfrm>
        </p:grpSpPr>
        <p:sp>
          <p:nvSpPr>
            <p:cNvPr name="Freeform 39" id="39"/>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40" id="40"/>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150079"/>
                  </a:solidFill>
                  <a:latin typeface="Montserrat Bold"/>
                  <a:ea typeface="Montserrat Bold"/>
                  <a:cs typeface="Montserrat Bold"/>
                  <a:sym typeface="Montserrat Bold"/>
                </a:rPr>
                <a:t>C6</a:t>
              </a:r>
            </a:p>
            <a:p>
              <a:pPr algn="ctr">
                <a:lnSpc>
                  <a:spcPts val="1984"/>
                </a:lnSpc>
              </a:pPr>
              <a:r>
                <a:rPr lang="en-US" sz="1575" b="true">
                  <a:solidFill>
                    <a:srgbClr val="150079"/>
                  </a:solidFill>
                  <a:latin typeface="Montserrat Bold"/>
                  <a:ea typeface="Montserrat Bold"/>
                  <a:cs typeface="Montserrat Bold"/>
                  <a:sym typeface="Montserrat Bold"/>
                </a:rPr>
                <a:t>Opus</a:t>
              </a:r>
            </a:p>
          </p:txBody>
        </p:sp>
      </p:grpSp>
      <p:grpSp>
        <p:nvGrpSpPr>
          <p:cNvPr name="Group 41" id="41"/>
          <p:cNvGrpSpPr/>
          <p:nvPr/>
        </p:nvGrpSpPr>
        <p:grpSpPr>
          <a:xfrm rot="0">
            <a:off x="12111247" y="4019356"/>
            <a:ext cx="1308354" cy="869442"/>
            <a:chOff x="0" y="0"/>
            <a:chExt cx="1744472" cy="1159256"/>
          </a:xfrm>
        </p:grpSpPr>
        <p:sp>
          <p:nvSpPr>
            <p:cNvPr name="Freeform 42" id="42"/>
            <p:cNvSpPr/>
            <p:nvPr/>
          </p:nvSpPr>
          <p:spPr>
            <a:xfrm flipH="false" flipV="false" rot="0">
              <a:off x="0" y="0"/>
              <a:ext cx="1744472" cy="1159256"/>
            </a:xfrm>
            <a:custGeom>
              <a:avLst/>
              <a:gdLst/>
              <a:ahLst/>
              <a:cxnLst/>
              <a:rect r="r" b="b" t="t" l="l"/>
              <a:pathLst>
                <a:path h="1159256" w="1744472">
                  <a:moveTo>
                    <a:pt x="0" y="130937"/>
                  </a:moveTo>
                  <a:cubicBezTo>
                    <a:pt x="0" y="58547"/>
                    <a:pt x="58547" y="0"/>
                    <a:pt x="130937" y="0"/>
                  </a:cubicBezTo>
                  <a:lnTo>
                    <a:pt x="1613535" y="0"/>
                  </a:lnTo>
                  <a:cubicBezTo>
                    <a:pt x="1685798" y="0"/>
                    <a:pt x="1744472" y="58547"/>
                    <a:pt x="1744472" y="130937"/>
                  </a:cubicBezTo>
                  <a:lnTo>
                    <a:pt x="1744472" y="1028319"/>
                  </a:lnTo>
                  <a:cubicBezTo>
                    <a:pt x="1744472" y="1100582"/>
                    <a:pt x="1685925" y="1159256"/>
                    <a:pt x="1613535" y="1159256"/>
                  </a:cubicBezTo>
                  <a:lnTo>
                    <a:pt x="130937" y="1159256"/>
                  </a:lnTo>
                  <a:cubicBezTo>
                    <a:pt x="58547" y="1159256"/>
                    <a:pt x="0" y="1100709"/>
                    <a:pt x="0" y="1028319"/>
                  </a:cubicBezTo>
                  <a:close/>
                </a:path>
              </a:pathLst>
            </a:custGeom>
            <a:solidFill>
              <a:srgbClr val="DAD6F7"/>
            </a:solidFill>
            <a:ln w="19050" cap="sq">
              <a:solidFill>
                <a:srgbClr val="B9B0EE"/>
              </a:solidFill>
              <a:prstDash val="solid"/>
              <a:miter/>
            </a:ln>
          </p:spPr>
        </p:sp>
      </p:grpSp>
      <p:grpSp>
        <p:nvGrpSpPr>
          <p:cNvPr name="Group 43" id="43"/>
          <p:cNvGrpSpPr/>
          <p:nvPr/>
        </p:nvGrpSpPr>
        <p:grpSpPr>
          <a:xfrm rot="0">
            <a:off x="12120772" y="4070029"/>
            <a:ext cx="1289304" cy="768096"/>
            <a:chOff x="0" y="0"/>
            <a:chExt cx="1719072" cy="1024128"/>
          </a:xfrm>
        </p:grpSpPr>
        <p:sp>
          <p:nvSpPr>
            <p:cNvPr name="Freeform 44" id="44"/>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45" id="45"/>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150079"/>
                  </a:solidFill>
                  <a:latin typeface="Montserrat Bold"/>
                  <a:ea typeface="Montserrat Bold"/>
                  <a:cs typeface="Montserrat Bold"/>
                  <a:sym typeface="Montserrat Bold"/>
                </a:rPr>
                <a:t>C7</a:t>
              </a:r>
            </a:p>
            <a:p>
              <a:pPr algn="ctr">
                <a:lnSpc>
                  <a:spcPts val="1984"/>
                </a:lnSpc>
              </a:pPr>
              <a:r>
                <a:rPr lang="en-US" sz="1575" b="true">
                  <a:solidFill>
                    <a:srgbClr val="150079"/>
                  </a:solidFill>
                  <a:latin typeface="Montserrat Bold"/>
                  <a:ea typeface="Montserrat Bold"/>
                  <a:cs typeface="Montserrat Bold"/>
                  <a:sym typeface="Montserrat Bold"/>
                </a:rPr>
                <a:t>Opus</a:t>
              </a:r>
            </a:p>
          </p:txBody>
        </p:sp>
      </p:grpSp>
      <p:grpSp>
        <p:nvGrpSpPr>
          <p:cNvPr name="Group 46" id="46"/>
          <p:cNvGrpSpPr/>
          <p:nvPr/>
        </p:nvGrpSpPr>
        <p:grpSpPr>
          <a:xfrm rot="0">
            <a:off x="13523995" y="4019356"/>
            <a:ext cx="1308354" cy="869442"/>
            <a:chOff x="0" y="0"/>
            <a:chExt cx="1744472" cy="1159256"/>
          </a:xfrm>
        </p:grpSpPr>
        <p:sp>
          <p:nvSpPr>
            <p:cNvPr name="Freeform 47" id="47"/>
            <p:cNvSpPr/>
            <p:nvPr/>
          </p:nvSpPr>
          <p:spPr>
            <a:xfrm flipH="false" flipV="false" rot="0">
              <a:off x="0" y="0"/>
              <a:ext cx="1744472" cy="1159256"/>
            </a:xfrm>
            <a:custGeom>
              <a:avLst/>
              <a:gdLst/>
              <a:ahLst/>
              <a:cxnLst/>
              <a:rect r="r" b="b" t="t" l="l"/>
              <a:pathLst>
                <a:path h="1159256" w="1744472">
                  <a:moveTo>
                    <a:pt x="0" y="130937"/>
                  </a:moveTo>
                  <a:cubicBezTo>
                    <a:pt x="0" y="58547"/>
                    <a:pt x="58547" y="0"/>
                    <a:pt x="130937" y="0"/>
                  </a:cubicBezTo>
                  <a:lnTo>
                    <a:pt x="1613535" y="0"/>
                  </a:lnTo>
                  <a:cubicBezTo>
                    <a:pt x="1685798" y="0"/>
                    <a:pt x="1744472" y="58547"/>
                    <a:pt x="1744472" y="130937"/>
                  </a:cubicBezTo>
                  <a:lnTo>
                    <a:pt x="1744472" y="1028319"/>
                  </a:lnTo>
                  <a:cubicBezTo>
                    <a:pt x="1744472" y="1100582"/>
                    <a:pt x="1685925" y="1159256"/>
                    <a:pt x="1613535" y="1159256"/>
                  </a:cubicBezTo>
                  <a:lnTo>
                    <a:pt x="130937" y="1159256"/>
                  </a:lnTo>
                  <a:cubicBezTo>
                    <a:pt x="58547" y="1159256"/>
                    <a:pt x="0" y="1100709"/>
                    <a:pt x="0" y="1028319"/>
                  </a:cubicBezTo>
                  <a:close/>
                </a:path>
              </a:pathLst>
            </a:custGeom>
            <a:solidFill>
              <a:srgbClr val="DAD6F7"/>
            </a:solidFill>
            <a:ln w="19050" cap="sq">
              <a:solidFill>
                <a:srgbClr val="B9B0EE"/>
              </a:solidFill>
              <a:prstDash val="solid"/>
              <a:miter/>
            </a:ln>
          </p:spPr>
        </p:sp>
      </p:grpSp>
      <p:grpSp>
        <p:nvGrpSpPr>
          <p:cNvPr name="Group 48" id="48"/>
          <p:cNvGrpSpPr/>
          <p:nvPr/>
        </p:nvGrpSpPr>
        <p:grpSpPr>
          <a:xfrm rot="0">
            <a:off x="13533520" y="4070029"/>
            <a:ext cx="1289304" cy="768096"/>
            <a:chOff x="0" y="0"/>
            <a:chExt cx="1719072" cy="1024128"/>
          </a:xfrm>
        </p:grpSpPr>
        <p:sp>
          <p:nvSpPr>
            <p:cNvPr name="Freeform 49" id="49"/>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50" id="50"/>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150079"/>
                  </a:solidFill>
                  <a:latin typeface="Montserrat Bold"/>
                  <a:ea typeface="Montserrat Bold"/>
                  <a:cs typeface="Montserrat Bold"/>
                  <a:sym typeface="Montserrat Bold"/>
                </a:rPr>
                <a:t>C8</a:t>
              </a:r>
            </a:p>
            <a:p>
              <a:pPr algn="ctr">
                <a:lnSpc>
                  <a:spcPts val="1984"/>
                </a:lnSpc>
              </a:pPr>
              <a:r>
                <a:rPr lang="en-US" sz="1575" b="true">
                  <a:solidFill>
                    <a:srgbClr val="150079"/>
                  </a:solidFill>
                  <a:latin typeface="Montserrat Bold"/>
                  <a:ea typeface="Montserrat Bold"/>
                  <a:cs typeface="Montserrat Bold"/>
                  <a:sym typeface="Montserrat Bold"/>
                </a:rPr>
                <a:t>Opus</a:t>
              </a:r>
            </a:p>
          </p:txBody>
        </p:sp>
      </p:grpSp>
      <p:grpSp>
        <p:nvGrpSpPr>
          <p:cNvPr name="Group 51" id="51"/>
          <p:cNvGrpSpPr/>
          <p:nvPr/>
        </p:nvGrpSpPr>
        <p:grpSpPr>
          <a:xfrm rot="0">
            <a:off x="15097144" y="4028881"/>
            <a:ext cx="2510028" cy="503739"/>
            <a:chOff x="0" y="0"/>
            <a:chExt cx="3346704" cy="671652"/>
          </a:xfrm>
        </p:grpSpPr>
        <p:sp>
          <p:nvSpPr>
            <p:cNvPr name="Freeform 52" id="52"/>
            <p:cNvSpPr/>
            <p:nvPr/>
          </p:nvSpPr>
          <p:spPr>
            <a:xfrm flipH="false" flipV="false" rot="0">
              <a:off x="0" y="0"/>
              <a:ext cx="3346704" cy="671652"/>
            </a:xfrm>
            <a:custGeom>
              <a:avLst/>
              <a:gdLst/>
              <a:ahLst/>
              <a:cxnLst/>
              <a:rect r="r" b="b" t="t" l="l"/>
              <a:pathLst>
                <a:path h="671652" w="3346704">
                  <a:moveTo>
                    <a:pt x="0" y="0"/>
                  </a:moveTo>
                  <a:lnTo>
                    <a:pt x="3346704" y="0"/>
                  </a:lnTo>
                  <a:lnTo>
                    <a:pt x="3346704" y="671652"/>
                  </a:lnTo>
                  <a:lnTo>
                    <a:pt x="0" y="671652"/>
                  </a:lnTo>
                  <a:close/>
                </a:path>
              </a:pathLst>
            </a:custGeom>
            <a:blipFill>
              <a:blip r:embed="rId2">
                <a:alphaModFix amt="0"/>
              </a:blip>
              <a:stretch>
                <a:fillRect l="0" t="-49440" r="0" b="-44739"/>
              </a:stretch>
            </a:blipFill>
          </p:spPr>
        </p:sp>
        <p:sp>
          <p:nvSpPr>
            <p:cNvPr name="TextBox 53" id="53"/>
            <p:cNvSpPr txBox="true"/>
            <p:nvPr/>
          </p:nvSpPr>
          <p:spPr>
            <a:xfrm>
              <a:off x="0" y="0"/>
              <a:ext cx="3346704" cy="671652"/>
            </a:xfrm>
            <a:prstGeom prst="rect">
              <a:avLst/>
            </a:prstGeom>
          </p:spPr>
          <p:txBody>
            <a:bodyPr anchor="ctr" rtlCol="false" tIns="0" lIns="0" bIns="0" rIns="0"/>
            <a:lstStyle/>
            <a:p>
              <a:pPr algn="r">
                <a:lnSpc>
                  <a:spcPts val="3060"/>
                </a:lnSpc>
              </a:pPr>
              <a:r>
                <a:rPr lang="en-US" b="true" sz="2550">
                  <a:solidFill>
                    <a:srgbClr val="FFFFFF"/>
                  </a:solidFill>
                  <a:latin typeface="Montserrat Bold"/>
                  <a:ea typeface="Montserrat Bold"/>
                  <a:cs typeface="Montserrat Bold"/>
                  <a:sym typeface="Montserrat Bold"/>
                </a:rPr>
                <a:t>$0.016872</a:t>
              </a:r>
            </a:p>
          </p:txBody>
        </p:sp>
      </p:grpSp>
      <p:grpSp>
        <p:nvGrpSpPr>
          <p:cNvPr name="Group 54" id="54"/>
          <p:cNvGrpSpPr/>
          <p:nvPr/>
        </p:nvGrpSpPr>
        <p:grpSpPr>
          <a:xfrm rot="0">
            <a:off x="15097144" y="4522657"/>
            <a:ext cx="2510028" cy="384048"/>
            <a:chOff x="0" y="0"/>
            <a:chExt cx="3346704" cy="512064"/>
          </a:xfrm>
        </p:grpSpPr>
        <p:sp>
          <p:nvSpPr>
            <p:cNvPr name="Freeform 55" id="55"/>
            <p:cNvSpPr/>
            <p:nvPr/>
          </p:nvSpPr>
          <p:spPr>
            <a:xfrm flipH="false" flipV="false" rot="0">
              <a:off x="0" y="0"/>
              <a:ext cx="3346704" cy="512064"/>
            </a:xfrm>
            <a:custGeom>
              <a:avLst/>
              <a:gdLst/>
              <a:ahLst/>
              <a:cxnLst/>
              <a:rect r="r" b="b" t="t" l="l"/>
              <a:pathLst>
                <a:path h="512064" w="3346704">
                  <a:moveTo>
                    <a:pt x="0" y="0"/>
                  </a:moveTo>
                  <a:lnTo>
                    <a:pt x="3346704" y="0"/>
                  </a:lnTo>
                  <a:lnTo>
                    <a:pt x="3346704" y="512064"/>
                  </a:lnTo>
                  <a:lnTo>
                    <a:pt x="0" y="512064"/>
                  </a:lnTo>
                  <a:close/>
                </a:path>
              </a:pathLst>
            </a:custGeom>
            <a:blipFill>
              <a:blip r:embed="rId2">
                <a:alphaModFix amt="0"/>
              </a:blip>
              <a:stretch>
                <a:fillRect l="0" t="-77348" r="0" b="-77348"/>
              </a:stretch>
            </a:blipFill>
          </p:spPr>
        </p:sp>
        <p:sp>
          <p:nvSpPr>
            <p:cNvPr name="TextBox 56" id="56"/>
            <p:cNvSpPr txBox="true"/>
            <p:nvPr/>
          </p:nvSpPr>
          <p:spPr>
            <a:xfrm>
              <a:off x="0" y="-9525"/>
              <a:ext cx="3346704" cy="521589"/>
            </a:xfrm>
            <a:prstGeom prst="rect">
              <a:avLst/>
            </a:prstGeom>
          </p:spPr>
          <p:txBody>
            <a:bodyPr anchor="ctr" rtlCol="false" tIns="0" lIns="0" bIns="0" rIns="0"/>
            <a:lstStyle/>
            <a:p>
              <a:pPr algn="r">
                <a:lnSpc>
                  <a:spcPts val="1709"/>
                </a:lnSpc>
              </a:pPr>
              <a:r>
                <a:rPr lang="en-US" sz="1425">
                  <a:solidFill>
                    <a:srgbClr val="FFFFFF"/>
                  </a:solidFill>
                  <a:latin typeface="Montserrat"/>
                  <a:ea typeface="Montserrat"/>
                  <a:cs typeface="Montserrat"/>
                  <a:sym typeface="Montserrat"/>
                </a:rPr>
                <a:t>logged input cost</a:t>
              </a:r>
            </a:p>
          </p:txBody>
        </p:sp>
      </p:grpSp>
      <p:sp>
        <p:nvSpPr>
          <p:cNvPr name="AutoShape 57" id="57"/>
          <p:cNvSpPr/>
          <p:nvPr/>
        </p:nvSpPr>
        <p:spPr>
          <a:xfrm>
            <a:off x="685819" y="5390968"/>
            <a:ext cx="4888231" cy="19026"/>
          </a:xfrm>
          <a:prstGeom prst="line">
            <a:avLst/>
          </a:prstGeom>
          <a:ln cap="rnd" w="9525">
            <a:solidFill>
              <a:srgbClr val="C7BFF2"/>
            </a:solidFill>
            <a:prstDash val="solid"/>
            <a:headEnd type="none" len="sm" w="sm"/>
            <a:tailEnd type="none" len="sm" w="sm"/>
          </a:ln>
        </p:spPr>
      </p:sp>
      <p:sp>
        <p:nvSpPr>
          <p:cNvPr name="AutoShape 58" id="58"/>
          <p:cNvSpPr/>
          <p:nvPr/>
        </p:nvSpPr>
        <p:spPr>
          <a:xfrm>
            <a:off x="12687318" y="5390974"/>
            <a:ext cx="4929379" cy="19014"/>
          </a:xfrm>
          <a:prstGeom prst="line">
            <a:avLst/>
          </a:prstGeom>
          <a:ln cap="rnd" w="9525">
            <a:solidFill>
              <a:srgbClr val="C7BFF2"/>
            </a:solidFill>
            <a:prstDash val="solid"/>
            <a:headEnd type="none" len="sm" w="sm"/>
            <a:tailEnd type="none" len="sm" w="sm"/>
          </a:ln>
        </p:spPr>
      </p:sp>
      <p:grpSp>
        <p:nvGrpSpPr>
          <p:cNvPr name="Group 59" id="59"/>
          <p:cNvGrpSpPr/>
          <p:nvPr/>
        </p:nvGrpSpPr>
        <p:grpSpPr>
          <a:xfrm rot="0">
            <a:off x="5701684" y="5139877"/>
            <a:ext cx="6858000" cy="521208"/>
            <a:chOff x="0" y="0"/>
            <a:chExt cx="9144000" cy="694944"/>
          </a:xfrm>
        </p:grpSpPr>
        <p:sp>
          <p:nvSpPr>
            <p:cNvPr name="Freeform 60" id="60"/>
            <p:cNvSpPr/>
            <p:nvPr/>
          </p:nvSpPr>
          <p:spPr>
            <a:xfrm flipH="false" flipV="false" rot="0">
              <a:off x="0" y="0"/>
              <a:ext cx="9144000" cy="694944"/>
            </a:xfrm>
            <a:custGeom>
              <a:avLst/>
              <a:gdLst/>
              <a:ahLst/>
              <a:cxnLst/>
              <a:rect r="r" b="b" t="t" l="l"/>
              <a:pathLst>
                <a:path h="694944" w="9144000">
                  <a:moveTo>
                    <a:pt x="0" y="0"/>
                  </a:moveTo>
                  <a:lnTo>
                    <a:pt x="9144000" y="0"/>
                  </a:lnTo>
                  <a:lnTo>
                    <a:pt x="9144000" y="694944"/>
                  </a:lnTo>
                  <a:lnTo>
                    <a:pt x="0" y="694944"/>
                  </a:lnTo>
                  <a:close/>
                </a:path>
              </a:pathLst>
            </a:custGeom>
            <a:blipFill>
              <a:blip r:embed="rId2">
                <a:alphaModFix amt="0"/>
              </a:blip>
              <a:stretch>
                <a:fillRect l="0" t="-206382" r="0" b="-206382"/>
              </a:stretch>
            </a:blipFill>
          </p:spPr>
        </p:sp>
        <p:sp>
          <p:nvSpPr>
            <p:cNvPr name="TextBox 61" id="61"/>
            <p:cNvSpPr txBox="true"/>
            <p:nvPr/>
          </p:nvSpPr>
          <p:spPr>
            <a:xfrm>
              <a:off x="0" y="-9525"/>
              <a:ext cx="9144000" cy="704469"/>
            </a:xfrm>
            <a:prstGeom prst="rect">
              <a:avLst/>
            </a:prstGeom>
          </p:spPr>
          <p:txBody>
            <a:bodyPr anchor="ctr" rtlCol="false" tIns="0" lIns="0" bIns="0" rIns="0"/>
            <a:lstStyle/>
            <a:p>
              <a:pPr algn="ctr">
                <a:lnSpc>
                  <a:spcPts val="2340"/>
                </a:lnSpc>
              </a:pPr>
              <a:r>
                <a:rPr lang="en-US" b="true" sz="1950">
                  <a:solidFill>
                    <a:srgbClr val="DAD6F7"/>
                  </a:solidFill>
                  <a:latin typeface="Montserrat Bold"/>
                  <a:ea typeface="Montserrat Bold"/>
                  <a:cs typeface="Montserrat Bold"/>
                  <a:sym typeface="Montserrat Bold"/>
                </a:rPr>
                <a:t>Call-1 classifier chooses the cheap sibling once</a:t>
              </a:r>
            </a:p>
          </p:txBody>
        </p:sp>
      </p:grpSp>
      <p:grpSp>
        <p:nvGrpSpPr>
          <p:cNvPr name="Group 62" id="62"/>
          <p:cNvGrpSpPr/>
          <p:nvPr/>
        </p:nvGrpSpPr>
        <p:grpSpPr>
          <a:xfrm rot="0">
            <a:off x="695344" y="5990269"/>
            <a:ext cx="2743200" cy="451199"/>
            <a:chOff x="0" y="0"/>
            <a:chExt cx="3657600" cy="601599"/>
          </a:xfrm>
        </p:grpSpPr>
        <p:sp>
          <p:nvSpPr>
            <p:cNvPr name="Freeform 63" id="63"/>
            <p:cNvSpPr/>
            <p:nvPr/>
          </p:nvSpPr>
          <p:spPr>
            <a:xfrm flipH="false" flipV="false" rot="0">
              <a:off x="0" y="0"/>
              <a:ext cx="3657600" cy="601599"/>
            </a:xfrm>
            <a:custGeom>
              <a:avLst/>
              <a:gdLst/>
              <a:ahLst/>
              <a:cxnLst/>
              <a:rect r="r" b="b" t="t" l="l"/>
              <a:pathLst>
                <a:path h="601599" w="3657600">
                  <a:moveTo>
                    <a:pt x="0" y="0"/>
                  </a:moveTo>
                  <a:lnTo>
                    <a:pt x="3657600" y="0"/>
                  </a:lnTo>
                  <a:lnTo>
                    <a:pt x="3657600" y="601599"/>
                  </a:lnTo>
                  <a:lnTo>
                    <a:pt x="0" y="601599"/>
                  </a:lnTo>
                  <a:close/>
                </a:path>
              </a:pathLst>
            </a:custGeom>
            <a:blipFill>
              <a:blip r:embed="rId2">
                <a:alphaModFix amt="0"/>
              </a:blip>
              <a:stretch>
                <a:fillRect l="0" t="-69826" r="0" b="-67103"/>
              </a:stretch>
            </a:blipFill>
          </p:spPr>
        </p:sp>
        <p:sp>
          <p:nvSpPr>
            <p:cNvPr name="TextBox 64" id="64"/>
            <p:cNvSpPr txBox="true"/>
            <p:nvPr/>
          </p:nvSpPr>
          <p:spPr>
            <a:xfrm>
              <a:off x="0" y="-9525"/>
              <a:ext cx="3657600" cy="611124"/>
            </a:xfrm>
            <a:prstGeom prst="rect">
              <a:avLst/>
            </a:prstGeom>
          </p:spPr>
          <p:txBody>
            <a:bodyPr anchor="ctr" rtlCol="false" tIns="0" lIns="0" bIns="0" rIns="0"/>
            <a:lstStyle/>
            <a:p>
              <a:pPr algn="l">
                <a:lnSpc>
                  <a:spcPts val="2700"/>
                </a:lnSpc>
              </a:pPr>
              <a:r>
                <a:rPr lang="en-US" b="true" sz="2250">
                  <a:solidFill>
                    <a:srgbClr val="FFFFFF"/>
                  </a:solidFill>
                  <a:latin typeface="Montserrat Bold"/>
                  <a:ea typeface="Montserrat Bold"/>
                  <a:cs typeface="Montserrat Bold"/>
                  <a:sym typeface="Montserrat Bold"/>
                </a:rPr>
                <a:t>Smart route</a:t>
              </a:r>
            </a:p>
          </p:txBody>
        </p:sp>
      </p:grpSp>
      <p:grpSp>
        <p:nvGrpSpPr>
          <p:cNvPr name="Group 65" id="65"/>
          <p:cNvGrpSpPr/>
          <p:nvPr/>
        </p:nvGrpSpPr>
        <p:grpSpPr>
          <a:xfrm rot="0">
            <a:off x="695344" y="6415465"/>
            <a:ext cx="2743200" cy="552059"/>
            <a:chOff x="0" y="0"/>
            <a:chExt cx="3657600" cy="736079"/>
          </a:xfrm>
        </p:grpSpPr>
        <p:sp>
          <p:nvSpPr>
            <p:cNvPr name="Freeform 66" id="66"/>
            <p:cNvSpPr/>
            <p:nvPr/>
          </p:nvSpPr>
          <p:spPr>
            <a:xfrm flipH="false" flipV="false" rot="0">
              <a:off x="0" y="0"/>
              <a:ext cx="3657600" cy="736079"/>
            </a:xfrm>
            <a:custGeom>
              <a:avLst/>
              <a:gdLst/>
              <a:ahLst/>
              <a:cxnLst/>
              <a:rect r="r" b="b" t="t" l="l"/>
              <a:pathLst>
                <a:path h="736079" w="3657600">
                  <a:moveTo>
                    <a:pt x="0" y="0"/>
                  </a:moveTo>
                  <a:lnTo>
                    <a:pt x="3657600" y="0"/>
                  </a:lnTo>
                  <a:lnTo>
                    <a:pt x="3657600" y="736079"/>
                  </a:lnTo>
                  <a:lnTo>
                    <a:pt x="0" y="736079"/>
                  </a:lnTo>
                  <a:close/>
                </a:path>
              </a:pathLst>
            </a:custGeom>
            <a:blipFill>
              <a:blip r:embed="rId2">
                <a:alphaModFix amt="0"/>
              </a:blip>
              <a:stretch>
                <a:fillRect l="0" t="-62038" r="0" b="-31604"/>
              </a:stretch>
            </a:blipFill>
          </p:spPr>
        </p:sp>
        <p:sp>
          <p:nvSpPr>
            <p:cNvPr name="TextBox 67" id="67"/>
            <p:cNvSpPr txBox="true"/>
            <p:nvPr/>
          </p:nvSpPr>
          <p:spPr>
            <a:xfrm>
              <a:off x="0" y="0"/>
              <a:ext cx="3657600" cy="736079"/>
            </a:xfrm>
            <a:prstGeom prst="rect">
              <a:avLst/>
            </a:prstGeom>
          </p:spPr>
          <p:txBody>
            <a:bodyPr anchor="ctr" rtlCol="false" tIns="0" lIns="0" bIns="0" rIns="0"/>
            <a:lstStyle/>
            <a:p>
              <a:pPr algn="l">
                <a:lnSpc>
                  <a:spcPts val="1889"/>
                </a:lnSpc>
              </a:pPr>
              <a:r>
                <a:rPr lang="en-US" sz="1575">
                  <a:solidFill>
                    <a:srgbClr val="FFFFFF"/>
                  </a:solidFill>
                  <a:latin typeface="Montserrat"/>
                  <a:ea typeface="Montserrat"/>
                  <a:cs typeface="Montserrat"/>
                  <a:sym typeface="Montserrat"/>
                </a:rPr>
                <a:t>claude-sonnet-5 · same task</a:t>
              </a:r>
            </a:p>
          </p:txBody>
        </p:sp>
      </p:grpSp>
      <p:grpSp>
        <p:nvGrpSpPr>
          <p:cNvPr name="Group 68" id="68"/>
          <p:cNvGrpSpPr/>
          <p:nvPr/>
        </p:nvGrpSpPr>
        <p:grpSpPr>
          <a:xfrm rot="0">
            <a:off x="3644284" y="5949121"/>
            <a:ext cx="1289304" cy="850392"/>
            <a:chOff x="0" y="0"/>
            <a:chExt cx="1719072" cy="1133856"/>
          </a:xfrm>
        </p:grpSpPr>
        <p:sp>
          <p:nvSpPr>
            <p:cNvPr name="Freeform 69" id="69"/>
            <p:cNvSpPr/>
            <p:nvPr/>
          </p:nvSpPr>
          <p:spPr>
            <a:xfrm flipH="false" flipV="false" rot="0">
              <a:off x="0" y="0"/>
              <a:ext cx="1719072" cy="1133856"/>
            </a:xfrm>
            <a:custGeom>
              <a:avLst/>
              <a:gdLst/>
              <a:ahLst/>
              <a:cxnLst/>
              <a:rect r="r" b="b" t="t" l="l"/>
              <a:pathLst>
                <a:path h="1133856" w="1719072">
                  <a:moveTo>
                    <a:pt x="0" y="128016"/>
                  </a:moveTo>
                  <a:cubicBezTo>
                    <a:pt x="0" y="57277"/>
                    <a:pt x="57277" y="0"/>
                    <a:pt x="128016" y="0"/>
                  </a:cubicBezTo>
                  <a:lnTo>
                    <a:pt x="1591056" y="0"/>
                  </a:lnTo>
                  <a:cubicBezTo>
                    <a:pt x="1661795" y="0"/>
                    <a:pt x="1719072" y="57277"/>
                    <a:pt x="1719072" y="128016"/>
                  </a:cubicBezTo>
                  <a:lnTo>
                    <a:pt x="1719072" y="1005840"/>
                  </a:lnTo>
                  <a:cubicBezTo>
                    <a:pt x="1719072" y="1076579"/>
                    <a:pt x="1661795" y="1133856"/>
                    <a:pt x="1591056" y="1133856"/>
                  </a:cubicBezTo>
                  <a:lnTo>
                    <a:pt x="128016" y="1133856"/>
                  </a:lnTo>
                  <a:cubicBezTo>
                    <a:pt x="57277" y="1133856"/>
                    <a:pt x="0" y="1076579"/>
                    <a:pt x="0" y="1005840"/>
                  </a:cubicBezTo>
                  <a:close/>
                </a:path>
              </a:pathLst>
            </a:custGeom>
            <a:solidFill>
              <a:srgbClr val="6748FD"/>
            </a:solidFill>
          </p:spPr>
        </p:sp>
      </p:grpSp>
      <p:grpSp>
        <p:nvGrpSpPr>
          <p:cNvPr name="Group 70" id="70"/>
          <p:cNvGrpSpPr/>
          <p:nvPr/>
        </p:nvGrpSpPr>
        <p:grpSpPr>
          <a:xfrm rot="0">
            <a:off x="3644284" y="5990269"/>
            <a:ext cx="1289304" cy="768096"/>
            <a:chOff x="0" y="0"/>
            <a:chExt cx="1719072" cy="1024128"/>
          </a:xfrm>
        </p:grpSpPr>
        <p:sp>
          <p:nvSpPr>
            <p:cNvPr name="Freeform 71" id="71"/>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72" id="72"/>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FBFAFF"/>
                  </a:solidFill>
                  <a:latin typeface="Montserrat Bold"/>
                  <a:ea typeface="Montserrat Bold"/>
                  <a:cs typeface="Montserrat Bold"/>
                  <a:sym typeface="Montserrat Bold"/>
                </a:rPr>
                <a:t>C1</a:t>
              </a:r>
            </a:p>
            <a:p>
              <a:pPr algn="ctr">
                <a:lnSpc>
                  <a:spcPts val="1984"/>
                </a:lnSpc>
              </a:pPr>
              <a:r>
                <a:rPr lang="en-US" sz="1575" b="true">
                  <a:solidFill>
                    <a:srgbClr val="FBFAFF"/>
                  </a:solidFill>
                  <a:latin typeface="Montserrat Bold"/>
                  <a:ea typeface="Montserrat Bold"/>
                  <a:cs typeface="Montserrat Bold"/>
                  <a:sym typeface="Montserrat Bold"/>
                </a:rPr>
                <a:t>Sonnet</a:t>
              </a:r>
            </a:p>
          </p:txBody>
        </p:sp>
      </p:grpSp>
      <p:grpSp>
        <p:nvGrpSpPr>
          <p:cNvPr name="Group 73" id="73"/>
          <p:cNvGrpSpPr/>
          <p:nvPr/>
        </p:nvGrpSpPr>
        <p:grpSpPr>
          <a:xfrm rot="0">
            <a:off x="5057032" y="5949121"/>
            <a:ext cx="1289304" cy="850392"/>
            <a:chOff x="0" y="0"/>
            <a:chExt cx="1719072" cy="1133856"/>
          </a:xfrm>
        </p:grpSpPr>
        <p:sp>
          <p:nvSpPr>
            <p:cNvPr name="Freeform 74" id="74"/>
            <p:cNvSpPr/>
            <p:nvPr/>
          </p:nvSpPr>
          <p:spPr>
            <a:xfrm flipH="false" flipV="false" rot="0">
              <a:off x="0" y="0"/>
              <a:ext cx="1719072" cy="1133856"/>
            </a:xfrm>
            <a:custGeom>
              <a:avLst/>
              <a:gdLst/>
              <a:ahLst/>
              <a:cxnLst/>
              <a:rect r="r" b="b" t="t" l="l"/>
              <a:pathLst>
                <a:path h="1133856" w="1719072">
                  <a:moveTo>
                    <a:pt x="0" y="128016"/>
                  </a:moveTo>
                  <a:cubicBezTo>
                    <a:pt x="0" y="57277"/>
                    <a:pt x="57277" y="0"/>
                    <a:pt x="128016" y="0"/>
                  </a:cubicBezTo>
                  <a:lnTo>
                    <a:pt x="1591056" y="0"/>
                  </a:lnTo>
                  <a:cubicBezTo>
                    <a:pt x="1661795" y="0"/>
                    <a:pt x="1719072" y="57277"/>
                    <a:pt x="1719072" y="128016"/>
                  </a:cubicBezTo>
                  <a:lnTo>
                    <a:pt x="1719072" y="1005840"/>
                  </a:lnTo>
                  <a:cubicBezTo>
                    <a:pt x="1719072" y="1076579"/>
                    <a:pt x="1661795" y="1133856"/>
                    <a:pt x="1591056" y="1133856"/>
                  </a:cubicBezTo>
                  <a:lnTo>
                    <a:pt x="128016" y="1133856"/>
                  </a:lnTo>
                  <a:cubicBezTo>
                    <a:pt x="57277" y="1133856"/>
                    <a:pt x="0" y="1076579"/>
                    <a:pt x="0" y="1005840"/>
                  </a:cubicBezTo>
                  <a:close/>
                </a:path>
              </a:pathLst>
            </a:custGeom>
            <a:solidFill>
              <a:srgbClr val="6748FD"/>
            </a:solidFill>
          </p:spPr>
        </p:sp>
      </p:grpSp>
      <p:grpSp>
        <p:nvGrpSpPr>
          <p:cNvPr name="Group 75" id="75"/>
          <p:cNvGrpSpPr/>
          <p:nvPr/>
        </p:nvGrpSpPr>
        <p:grpSpPr>
          <a:xfrm rot="0">
            <a:off x="5057032" y="5990269"/>
            <a:ext cx="1289304" cy="768096"/>
            <a:chOff x="0" y="0"/>
            <a:chExt cx="1719072" cy="1024128"/>
          </a:xfrm>
        </p:grpSpPr>
        <p:sp>
          <p:nvSpPr>
            <p:cNvPr name="Freeform 76" id="76"/>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77" id="77"/>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FBFAFF"/>
                  </a:solidFill>
                  <a:latin typeface="Montserrat Bold"/>
                  <a:ea typeface="Montserrat Bold"/>
                  <a:cs typeface="Montserrat Bold"/>
                  <a:sym typeface="Montserrat Bold"/>
                </a:rPr>
                <a:t>C2</a:t>
              </a:r>
            </a:p>
            <a:p>
              <a:pPr algn="ctr">
                <a:lnSpc>
                  <a:spcPts val="1984"/>
                </a:lnSpc>
              </a:pPr>
              <a:r>
                <a:rPr lang="en-US" sz="1575" b="true">
                  <a:solidFill>
                    <a:srgbClr val="FBFAFF"/>
                  </a:solidFill>
                  <a:latin typeface="Montserrat Bold"/>
                  <a:ea typeface="Montserrat Bold"/>
                  <a:cs typeface="Montserrat Bold"/>
                  <a:sym typeface="Montserrat Bold"/>
                </a:rPr>
                <a:t>Sonnet</a:t>
              </a:r>
            </a:p>
          </p:txBody>
        </p:sp>
      </p:grpSp>
      <p:grpSp>
        <p:nvGrpSpPr>
          <p:cNvPr name="Group 78" id="78"/>
          <p:cNvGrpSpPr/>
          <p:nvPr/>
        </p:nvGrpSpPr>
        <p:grpSpPr>
          <a:xfrm rot="0">
            <a:off x="6469780" y="5949121"/>
            <a:ext cx="1289304" cy="850392"/>
            <a:chOff x="0" y="0"/>
            <a:chExt cx="1719072" cy="1133856"/>
          </a:xfrm>
        </p:grpSpPr>
        <p:sp>
          <p:nvSpPr>
            <p:cNvPr name="Freeform 79" id="79"/>
            <p:cNvSpPr/>
            <p:nvPr/>
          </p:nvSpPr>
          <p:spPr>
            <a:xfrm flipH="false" flipV="false" rot="0">
              <a:off x="0" y="0"/>
              <a:ext cx="1719072" cy="1133856"/>
            </a:xfrm>
            <a:custGeom>
              <a:avLst/>
              <a:gdLst/>
              <a:ahLst/>
              <a:cxnLst/>
              <a:rect r="r" b="b" t="t" l="l"/>
              <a:pathLst>
                <a:path h="1133856" w="1719072">
                  <a:moveTo>
                    <a:pt x="0" y="128016"/>
                  </a:moveTo>
                  <a:cubicBezTo>
                    <a:pt x="0" y="57277"/>
                    <a:pt x="57277" y="0"/>
                    <a:pt x="128016" y="0"/>
                  </a:cubicBezTo>
                  <a:lnTo>
                    <a:pt x="1591056" y="0"/>
                  </a:lnTo>
                  <a:cubicBezTo>
                    <a:pt x="1661795" y="0"/>
                    <a:pt x="1719072" y="57277"/>
                    <a:pt x="1719072" y="128016"/>
                  </a:cubicBezTo>
                  <a:lnTo>
                    <a:pt x="1719072" y="1005840"/>
                  </a:lnTo>
                  <a:cubicBezTo>
                    <a:pt x="1719072" y="1076579"/>
                    <a:pt x="1661795" y="1133856"/>
                    <a:pt x="1591056" y="1133856"/>
                  </a:cubicBezTo>
                  <a:lnTo>
                    <a:pt x="128016" y="1133856"/>
                  </a:lnTo>
                  <a:cubicBezTo>
                    <a:pt x="57277" y="1133856"/>
                    <a:pt x="0" y="1076579"/>
                    <a:pt x="0" y="1005840"/>
                  </a:cubicBezTo>
                  <a:close/>
                </a:path>
              </a:pathLst>
            </a:custGeom>
            <a:solidFill>
              <a:srgbClr val="6748FD"/>
            </a:solidFill>
          </p:spPr>
        </p:sp>
      </p:grpSp>
      <p:grpSp>
        <p:nvGrpSpPr>
          <p:cNvPr name="Group 80" id="80"/>
          <p:cNvGrpSpPr/>
          <p:nvPr/>
        </p:nvGrpSpPr>
        <p:grpSpPr>
          <a:xfrm rot="0">
            <a:off x="6469780" y="5990269"/>
            <a:ext cx="1289304" cy="768096"/>
            <a:chOff x="0" y="0"/>
            <a:chExt cx="1719072" cy="1024128"/>
          </a:xfrm>
        </p:grpSpPr>
        <p:sp>
          <p:nvSpPr>
            <p:cNvPr name="Freeform 81" id="81"/>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82" id="82"/>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FBFAFF"/>
                  </a:solidFill>
                  <a:latin typeface="Montserrat Bold"/>
                  <a:ea typeface="Montserrat Bold"/>
                  <a:cs typeface="Montserrat Bold"/>
                  <a:sym typeface="Montserrat Bold"/>
                </a:rPr>
                <a:t>C3</a:t>
              </a:r>
            </a:p>
            <a:p>
              <a:pPr algn="ctr">
                <a:lnSpc>
                  <a:spcPts val="1984"/>
                </a:lnSpc>
              </a:pPr>
              <a:r>
                <a:rPr lang="en-US" sz="1575" b="true">
                  <a:solidFill>
                    <a:srgbClr val="FBFAFF"/>
                  </a:solidFill>
                  <a:latin typeface="Montserrat Bold"/>
                  <a:ea typeface="Montserrat Bold"/>
                  <a:cs typeface="Montserrat Bold"/>
                  <a:sym typeface="Montserrat Bold"/>
                </a:rPr>
                <a:t>Sonnet</a:t>
              </a:r>
            </a:p>
          </p:txBody>
        </p:sp>
      </p:grpSp>
      <p:grpSp>
        <p:nvGrpSpPr>
          <p:cNvPr name="Group 83" id="83"/>
          <p:cNvGrpSpPr/>
          <p:nvPr/>
        </p:nvGrpSpPr>
        <p:grpSpPr>
          <a:xfrm rot="0">
            <a:off x="7882528" y="5949121"/>
            <a:ext cx="1289304" cy="850392"/>
            <a:chOff x="0" y="0"/>
            <a:chExt cx="1719072" cy="1133856"/>
          </a:xfrm>
        </p:grpSpPr>
        <p:sp>
          <p:nvSpPr>
            <p:cNvPr name="Freeform 84" id="84"/>
            <p:cNvSpPr/>
            <p:nvPr/>
          </p:nvSpPr>
          <p:spPr>
            <a:xfrm flipH="false" flipV="false" rot="0">
              <a:off x="0" y="0"/>
              <a:ext cx="1719072" cy="1133856"/>
            </a:xfrm>
            <a:custGeom>
              <a:avLst/>
              <a:gdLst/>
              <a:ahLst/>
              <a:cxnLst/>
              <a:rect r="r" b="b" t="t" l="l"/>
              <a:pathLst>
                <a:path h="1133856" w="1719072">
                  <a:moveTo>
                    <a:pt x="0" y="128016"/>
                  </a:moveTo>
                  <a:cubicBezTo>
                    <a:pt x="0" y="57277"/>
                    <a:pt x="57277" y="0"/>
                    <a:pt x="128016" y="0"/>
                  </a:cubicBezTo>
                  <a:lnTo>
                    <a:pt x="1591056" y="0"/>
                  </a:lnTo>
                  <a:cubicBezTo>
                    <a:pt x="1661795" y="0"/>
                    <a:pt x="1719072" y="57277"/>
                    <a:pt x="1719072" y="128016"/>
                  </a:cubicBezTo>
                  <a:lnTo>
                    <a:pt x="1719072" y="1005840"/>
                  </a:lnTo>
                  <a:cubicBezTo>
                    <a:pt x="1719072" y="1076579"/>
                    <a:pt x="1661795" y="1133856"/>
                    <a:pt x="1591056" y="1133856"/>
                  </a:cubicBezTo>
                  <a:lnTo>
                    <a:pt x="128016" y="1133856"/>
                  </a:lnTo>
                  <a:cubicBezTo>
                    <a:pt x="57277" y="1133856"/>
                    <a:pt x="0" y="1076579"/>
                    <a:pt x="0" y="1005840"/>
                  </a:cubicBezTo>
                  <a:close/>
                </a:path>
              </a:pathLst>
            </a:custGeom>
            <a:solidFill>
              <a:srgbClr val="6748FD"/>
            </a:solidFill>
          </p:spPr>
        </p:sp>
      </p:grpSp>
      <p:grpSp>
        <p:nvGrpSpPr>
          <p:cNvPr name="Group 85" id="85"/>
          <p:cNvGrpSpPr/>
          <p:nvPr/>
        </p:nvGrpSpPr>
        <p:grpSpPr>
          <a:xfrm rot="0">
            <a:off x="7882528" y="5990269"/>
            <a:ext cx="1289304" cy="768096"/>
            <a:chOff x="0" y="0"/>
            <a:chExt cx="1719072" cy="1024128"/>
          </a:xfrm>
        </p:grpSpPr>
        <p:sp>
          <p:nvSpPr>
            <p:cNvPr name="Freeform 86" id="86"/>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87" id="87"/>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FBFAFF"/>
                  </a:solidFill>
                  <a:latin typeface="Montserrat Bold"/>
                  <a:ea typeface="Montserrat Bold"/>
                  <a:cs typeface="Montserrat Bold"/>
                  <a:sym typeface="Montserrat Bold"/>
                </a:rPr>
                <a:t>C4</a:t>
              </a:r>
            </a:p>
            <a:p>
              <a:pPr algn="ctr">
                <a:lnSpc>
                  <a:spcPts val="1984"/>
                </a:lnSpc>
              </a:pPr>
              <a:r>
                <a:rPr lang="en-US" sz="1575" b="true">
                  <a:solidFill>
                    <a:srgbClr val="FBFAFF"/>
                  </a:solidFill>
                  <a:latin typeface="Montserrat Bold"/>
                  <a:ea typeface="Montserrat Bold"/>
                  <a:cs typeface="Montserrat Bold"/>
                  <a:sym typeface="Montserrat Bold"/>
                </a:rPr>
                <a:t>Sonnet</a:t>
              </a:r>
            </a:p>
          </p:txBody>
        </p:sp>
      </p:grpSp>
      <p:grpSp>
        <p:nvGrpSpPr>
          <p:cNvPr name="Group 88" id="88"/>
          <p:cNvGrpSpPr/>
          <p:nvPr/>
        </p:nvGrpSpPr>
        <p:grpSpPr>
          <a:xfrm rot="0">
            <a:off x="9295276" y="5949121"/>
            <a:ext cx="1289304" cy="850392"/>
            <a:chOff x="0" y="0"/>
            <a:chExt cx="1719072" cy="1133856"/>
          </a:xfrm>
        </p:grpSpPr>
        <p:sp>
          <p:nvSpPr>
            <p:cNvPr name="Freeform 89" id="89"/>
            <p:cNvSpPr/>
            <p:nvPr/>
          </p:nvSpPr>
          <p:spPr>
            <a:xfrm flipH="false" flipV="false" rot="0">
              <a:off x="0" y="0"/>
              <a:ext cx="1719072" cy="1133856"/>
            </a:xfrm>
            <a:custGeom>
              <a:avLst/>
              <a:gdLst/>
              <a:ahLst/>
              <a:cxnLst/>
              <a:rect r="r" b="b" t="t" l="l"/>
              <a:pathLst>
                <a:path h="1133856" w="1719072">
                  <a:moveTo>
                    <a:pt x="0" y="128016"/>
                  </a:moveTo>
                  <a:cubicBezTo>
                    <a:pt x="0" y="57277"/>
                    <a:pt x="57277" y="0"/>
                    <a:pt x="128016" y="0"/>
                  </a:cubicBezTo>
                  <a:lnTo>
                    <a:pt x="1591056" y="0"/>
                  </a:lnTo>
                  <a:cubicBezTo>
                    <a:pt x="1661795" y="0"/>
                    <a:pt x="1719072" y="57277"/>
                    <a:pt x="1719072" y="128016"/>
                  </a:cubicBezTo>
                  <a:lnTo>
                    <a:pt x="1719072" y="1005840"/>
                  </a:lnTo>
                  <a:cubicBezTo>
                    <a:pt x="1719072" y="1076579"/>
                    <a:pt x="1661795" y="1133856"/>
                    <a:pt x="1591056" y="1133856"/>
                  </a:cubicBezTo>
                  <a:lnTo>
                    <a:pt x="128016" y="1133856"/>
                  </a:lnTo>
                  <a:cubicBezTo>
                    <a:pt x="57277" y="1133856"/>
                    <a:pt x="0" y="1076579"/>
                    <a:pt x="0" y="1005840"/>
                  </a:cubicBezTo>
                  <a:close/>
                </a:path>
              </a:pathLst>
            </a:custGeom>
            <a:solidFill>
              <a:srgbClr val="6748FD"/>
            </a:solidFill>
          </p:spPr>
        </p:sp>
      </p:grpSp>
      <p:grpSp>
        <p:nvGrpSpPr>
          <p:cNvPr name="Group 90" id="90"/>
          <p:cNvGrpSpPr/>
          <p:nvPr/>
        </p:nvGrpSpPr>
        <p:grpSpPr>
          <a:xfrm rot="0">
            <a:off x="9295276" y="5990269"/>
            <a:ext cx="1289304" cy="768096"/>
            <a:chOff x="0" y="0"/>
            <a:chExt cx="1719072" cy="1024128"/>
          </a:xfrm>
        </p:grpSpPr>
        <p:sp>
          <p:nvSpPr>
            <p:cNvPr name="Freeform 91" id="91"/>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92" id="92"/>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FBFAFF"/>
                  </a:solidFill>
                  <a:latin typeface="Montserrat Bold"/>
                  <a:ea typeface="Montserrat Bold"/>
                  <a:cs typeface="Montserrat Bold"/>
                  <a:sym typeface="Montserrat Bold"/>
                </a:rPr>
                <a:t>C5</a:t>
              </a:r>
            </a:p>
            <a:p>
              <a:pPr algn="ctr">
                <a:lnSpc>
                  <a:spcPts val="1984"/>
                </a:lnSpc>
              </a:pPr>
              <a:r>
                <a:rPr lang="en-US" sz="1575" b="true">
                  <a:solidFill>
                    <a:srgbClr val="FBFAFF"/>
                  </a:solidFill>
                  <a:latin typeface="Montserrat Bold"/>
                  <a:ea typeface="Montserrat Bold"/>
                  <a:cs typeface="Montserrat Bold"/>
                  <a:sym typeface="Montserrat Bold"/>
                </a:rPr>
                <a:t>Sonnet</a:t>
              </a:r>
            </a:p>
          </p:txBody>
        </p:sp>
      </p:grpSp>
      <p:grpSp>
        <p:nvGrpSpPr>
          <p:cNvPr name="Group 93" id="93"/>
          <p:cNvGrpSpPr/>
          <p:nvPr/>
        </p:nvGrpSpPr>
        <p:grpSpPr>
          <a:xfrm rot="0">
            <a:off x="10708024" y="5949121"/>
            <a:ext cx="1289304" cy="850392"/>
            <a:chOff x="0" y="0"/>
            <a:chExt cx="1719072" cy="1133856"/>
          </a:xfrm>
        </p:grpSpPr>
        <p:sp>
          <p:nvSpPr>
            <p:cNvPr name="Freeform 94" id="94"/>
            <p:cNvSpPr/>
            <p:nvPr/>
          </p:nvSpPr>
          <p:spPr>
            <a:xfrm flipH="false" flipV="false" rot="0">
              <a:off x="0" y="0"/>
              <a:ext cx="1719072" cy="1133856"/>
            </a:xfrm>
            <a:custGeom>
              <a:avLst/>
              <a:gdLst/>
              <a:ahLst/>
              <a:cxnLst/>
              <a:rect r="r" b="b" t="t" l="l"/>
              <a:pathLst>
                <a:path h="1133856" w="1719072">
                  <a:moveTo>
                    <a:pt x="0" y="128016"/>
                  </a:moveTo>
                  <a:cubicBezTo>
                    <a:pt x="0" y="57277"/>
                    <a:pt x="57277" y="0"/>
                    <a:pt x="128016" y="0"/>
                  </a:cubicBezTo>
                  <a:lnTo>
                    <a:pt x="1591056" y="0"/>
                  </a:lnTo>
                  <a:cubicBezTo>
                    <a:pt x="1661795" y="0"/>
                    <a:pt x="1719072" y="57277"/>
                    <a:pt x="1719072" y="128016"/>
                  </a:cubicBezTo>
                  <a:lnTo>
                    <a:pt x="1719072" y="1005840"/>
                  </a:lnTo>
                  <a:cubicBezTo>
                    <a:pt x="1719072" y="1076579"/>
                    <a:pt x="1661795" y="1133856"/>
                    <a:pt x="1591056" y="1133856"/>
                  </a:cubicBezTo>
                  <a:lnTo>
                    <a:pt x="128016" y="1133856"/>
                  </a:lnTo>
                  <a:cubicBezTo>
                    <a:pt x="57277" y="1133856"/>
                    <a:pt x="0" y="1076579"/>
                    <a:pt x="0" y="1005840"/>
                  </a:cubicBezTo>
                  <a:close/>
                </a:path>
              </a:pathLst>
            </a:custGeom>
            <a:solidFill>
              <a:srgbClr val="6748FD"/>
            </a:solidFill>
          </p:spPr>
        </p:sp>
      </p:grpSp>
      <p:grpSp>
        <p:nvGrpSpPr>
          <p:cNvPr name="Group 95" id="95"/>
          <p:cNvGrpSpPr/>
          <p:nvPr/>
        </p:nvGrpSpPr>
        <p:grpSpPr>
          <a:xfrm rot="0">
            <a:off x="10708024" y="5990269"/>
            <a:ext cx="1289304" cy="768096"/>
            <a:chOff x="0" y="0"/>
            <a:chExt cx="1719072" cy="1024128"/>
          </a:xfrm>
        </p:grpSpPr>
        <p:sp>
          <p:nvSpPr>
            <p:cNvPr name="Freeform 96" id="96"/>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97" id="97"/>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FBFAFF"/>
                  </a:solidFill>
                  <a:latin typeface="Montserrat Bold"/>
                  <a:ea typeface="Montserrat Bold"/>
                  <a:cs typeface="Montserrat Bold"/>
                  <a:sym typeface="Montserrat Bold"/>
                </a:rPr>
                <a:t>C6</a:t>
              </a:r>
            </a:p>
            <a:p>
              <a:pPr algn="ctr">
                <a:lnSpc>
                  <a:spcPts val="1984"/>
                </a:lnSpc>
              </a:pPr>
              <a:r>
                <a:rPr lang="en-US" sz="1575" b="true">
                  <a:solidFill>
                    <a:srgbClr val="FBFAFF"/>
                  </a:solidFill>
                  <a:latin typeface="Montserrat Bold"/>
                  <a:ea typeface="Montserrat Bold"/>
                  <a:cs typeface="Montserrat Bold"/>
                  <a:sym typeface="Montserrat Bold"/>
                </a:rPr>
                <a:t>Sonnet</a:t>
              </a:r>
            </a:p>
          </p:txBody>
        </p:sp>
      </p:grpSp>
      <p:grpSp>
        <p:nvGrpSpPr>
          <p:cNvPr name="Group 98" id="98"/>
          <p:cNvGrpSpPr/>
          <p:nvPr/>
        </p:nvGrpSpPr>
        <p:grpSpPr>
          <a:xfrm rot="0">
            <a:off x="12120772" y="5949121"/>
            <a:ext cx="1289304" cy="850392"/>
            <a:chOff x="0" y="0"/>
            <a:chExt cx="1719072" cy="1133856"/>
          </a:xfrm>
        </p:grpSpPr>
        <p:sp>
          <p:nvSpPr>
            <p:cNvPr name="Freeform 99" id="99"/>
            <p:cNvSpPr/>
            <p:nvPr/>
          </p:nvSpPr>
          <p:spPr>
            <a:xfrm flipH="false" flipV="false" rot="0">
              <a:off x="0" y="0"/>
              <a:ext cx="1719072" cy="1133856"/>
            </a:xfrm>
            <a:custGeom>
              <a:avLst/>
              <a:gdLst/>
              <a:ahLst/>
              <a:cxnLst/>
              <a:rect r="r" b="b" t="t" l="l"/>
              <a:pathLst>
                <a:path h="1133856" w="1719072">
                  <a:moveTo>
                    <a:pt x="0" y="128016"/>
                  </a:moveTo>
                  <a:cubicBezTo>
                    <a:pt x="0" y="57277"/>
                    <a:pt x="57277" y="0"/>
                    <a:pt x="128016" y="0"/>
                  </a:cubicBezTo>
                  <a:lnTo>
                    <a:pt x="1591056" y="0"/>
                  </a:lnTo>
                  <a:cubicBezTo>
                    <a:pt x="1661795" y="0"/>
                    <a:pt x="1719072" y="57277"/>
                    <a:pt x="1719072" y="128016"/>
                  </a:cubicBezTo>
                  <a:lnTo>
                    <a:pt x="1719072" y="1005840"/>
                  </a:lnTo>
                  <a:cubicBezTo>
                    <a:pt x="1719072" y="1076579"/>
                    <a:pt x="1661795" y="1133856"/>
                    <a:pt x="1591056" y="1133856"/>
                  </a:cubicBezTo>
                  <a:lnTo>
                    <a:pt x="128016" y="1133856"/>
                  </a:lnTo>
                  <a:cubicBezTo>
                    <a:pt x="57277" y="1133856"/>
                    <a:pt x="0" y="1076579"/>
                    <a:pt x="0" y="1005840"/>
                  </a:cubicBezTo>
                  <a:close/>
                </a:path>
              </a:pathLst>
            </a:custGeom>
            <a:solidFill>
              <a:srgbClr val="6748FD"/>
            </a:solidFill>
          </p:spPr>
        </p:sp>
      </p:grpSp>
      <p:grpSp>
        <p:nvGrpSpPr>
          <p:cNvPr name="Group 100" id="100"/>
          <p:cNvGrpSpPr/>
          <p:nvPr/>
        </p:nvGrpSpPr>
        <p:grpSpPr>
          <a:xfrm rot="0">
            <a:off x="12120772" y="5990269"/>
            <a:ext cx="1289304" cy="768096"/>
            <a:chOff x="0" y="0"/>
            <a:chExt cx="1719072" cy="1024128"/>
          </a:xfrm>
        </p:grpSpPr>
        <p:sp>
          <p:nvSpPr>
            <p:cNvPr name="Freeform 101" id="101"/>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102" id="102"/>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FBFAFF"/>
                  </a:solidFill>
                  <a:latin typeface="Montserrat Bold"/>
                  <a:ea typeface="Montserrat Bold"/>
                  <a:cs typeface="Montserrat Bold"/>
                  <a:sym typeface="Montserrat Bold"/>
                </a:rPr>
                <a:t>C7</a:t>
              </a:r>
            </a:p>
            <a:p>
              <a:pPr algn="ctr">
                <a:lnSpc>
                  <a:spcPts val="1984"/>
                </a:lnSpc>
              </a:pPr>
              <a:r>
                <a:rPr lang="en-US" sz="1575" b="true">
                  <a:solidFill>
                    <a:srgbClr val="FBFAFF"/>
                  </a:solidFill>
                  <a:latin typeface="Montserrat Bold"/>
                  <a:ea typeface="Montserrat Bold"/>
                  <a:cs typeface="Montserrat Bold"/>
                  <a:sym typeface="Montserrat Bold"/>
                </a:rPr>
                <a:t>Sonnet</a:t>
              </a:r>
            </a:p>
          </p:txBody>
        </p:sp>
      </p:grpSp>
      <p:grpSp>
        <p:nvGrpSpPr>
          <p:cNvPr name="Group 103" id="103"/>
          <p:cNvGrpSpPr/>
          <p:nvPr/>
        </p:nvGrpSpPr>
        <p:grpSpPr>
          <a:xfrm rot="0">
            <a:off x="13533520" y="5949121"/>
            <a:ext cx="1289304" cy="850392"/>
            <a:chOff x="0" y="0"/>
            <a:chExt cx="1719072" cy="1133856"/>
          </a:xfrm>
        </p:grpSpPr>
        <p:sp>
          <p:nvSpPr>
            <p:cNvPr name="Freeform 104" id="104"/>
            <p:cNvSpPr/>
            <p:nvPr/>
          </p:nvSpPr>
          <p:spPr>
            <a:xfrm flipH="false" flipV="false" rot="0">
              <a:off x="0" y="0"/>
              <a:ext cx="1719072" cy="1133856"/>
            </a:xfrm>
            <a:custGeom>
              <a:avLst/>
              <a:gdLst/>
              <a:ahLst/>
              <a:cxnLst/>
              <a:rect r="r" b="b" t="t" l="l"/>
              <a:pathLst>
                <a:path h="1133856" w="1719072">
                  <a:moveTo>
                    <a:pt x="0" y="128016"/>
                  </a:moveTo>
                  <a:cubicBezTo>
                    <a:pt x="0" y="57277"/>
                    <a:pt x="57277" y="0"/>
                    <a:pt x="128016" y="0"/>
                  </a:cubicBezTo>
                  <a:lnTo>
                    <a:pt x="1591056" y="0"/>
                  </a:lnTo>
                  <a:cubicBezTo>
                    <a:pt x="1661795" y="0"/>
                    <a:pt x="1719072" y="57277"/>
                    <a:pt x="1719072" y="128016"/>
                  </a:cubicBezTo>
                  <a:lnTo>
                    <a:pt x="1719072" y="1005840"/>
                  </a:lnTo>
                  <a:cubicBezTo>
                    <a:pt x="1719072" y="1076579"/>
                    <a:pt x="1661795" y="1133856"/>
                    <a:pt x="1591056" y="1133856"/>
                  </a:cubicBezTo>
                  <a:lnTo>
                    <a:pt x="128016" y="1133856"/>
                  </a:lnTo>
                  <a:cubicBezTo>
                    <a:pt x="57277" y="1133856"/>
                    <a:pt x="0" y="1076579"/>
                    <a:pt x="0" y="1005840"/>
                  </a:cubicBezTo>
                  <a:close/>
                </a:path>
              </a:pathLst>
            </a:custGeom>
            <a:solidFill>
              <a:srgbClr val="6748FD"/>
            </a:solidFill>
          </p:spPr>
        </p:sp>
      </p:grpSp>
      <p:grpSp>
        <p:nvGrpSpPr>
          <p:cNvPr name="Group 105" id="105"/>
          <p:cNvGrpSpPr/>
          <p:nvPr/>
        </p:nvGrpSpPr>
        <p:grpSpPr>
          <a:xfrm rot="0">
            <a:off x="13533520" y="5990269"/>
            <a:ext cx="1289304" cy="768096"/>
            <a:chOff x="0" y="0"/>
            <a:chExt cx="1719072" cy="1024128"/>
          </a:xfrm>
        </p:grpSpPr>
        <p:sp>
          <p:nvSpPr>
            <p:cNvPr name="Freeform 106" id="106"/>
            <p:cNvSpPr/>
            <p:nvPr/>
          </p:nvSpPr>
          <p:spPr>
            <a:xfrm flipH="false" flipV="false" rot="0">
              <a:off x="0" y="0"/>
              <a:ext cx="1719072" cy="1024128"/>
            </a:xfrm>
            <a:custGeom>
              <a:avLst/>
              <a:gdLst/>
              <a:ahLst/>
              <a:cxnLst/>
              <a:rect r="r" b="b" t="t" l="l"/>
              <a:pathLst>
                <a:path h="1024128" w="1719072">
                  <a:moveTo>
                    <a:pt x="0" y="0"/>
                  </a:moveTo>
                  <a:lnTo>
                    <a:pt x="1719072" y="0"/>
                  </a:lnTo>
                  <a:lnTo>
                    <a:pt x="1719072" y="1024128"/>
                  </a:lnTo>
                  <a:lnTo>
                    <a:pt x="0" y="1024128"/>
                  </a:lnTo>
                  <a:close/>
                </a:path>
              </a:pathLst>
            </a:custGeom>
            <a:blipFill>
              <a:blip r:embed="rId2">
                <a:alphaModFix amt="0"/>
              </a:blip>
              <a:stretch>
                <a:fillRect l="-26436" t="0" r="-26436" b="0"/>
              </a:stretch>
            </a:blipFill>
          </p:spPr>
        </p:sp>
        <p:sp>
          <p:nvSpPr>
            <p:cNvPr name="TextBox 107" id="107"/>
            <p:cNvSpPr txBox="true"/>
            <p:nvPr/>
          </p:nvSpPr>
          <p:spPr>
            <a:xfrm>
              <a:off x="0" y="-9525"/>
              <a:ext cx="1719072" cy="1033653"/>
            </a:xfrm>
            <a:prstGeom prst="rect">
              <a:avLst/>
            </a:prstGeom>
          </p:spPr>
          <p:txBody>
            <a:bodyPr anchor="ctr" rtlCol="false" tIns="0" lIns="0" bIns="0" rIns="0"/>
            <a:lstStyle/>
            <a:p>
              <a:pPr algn="ctr">
                <a:lnSpc>
                  <a:spcPts val="1984"/>
                </a:lnSpc>
              </a:pPr>
              <a:r>
                <a:rPr lang="en-US" sz="1575" b="true">
                  <a:solidFill>
                    <a:srgbClr val="FBFAFF"/>
                  </a:solidFill>
                  <a:latin typeface="Montserrat Bold"/>
                  <a:ea typeface="Montserrat Bold"/>
                  <a:cs typeface="Montserrat Bold"/>
                  <a:sym typeface="Montserrat Bold"/>
                </a:rPr>
                <a:t>C8</a:t>
              </a:r>
            </a:p>
            <a:p>
              <a:pPr algn="ctr">
                <a:lnSpc>
                  <a:spcPts val="1984"/>
                </a:lnSpc>
              </a:pPr>
              <a:r>
                <a:rPr lang="en-US" sz="1575" b="true">
                  <a:solidFill>
                    <a:srgbClr val="FBFAFF"/>
                  </a:solidFill>
                  <a:latin typeface="Montserrat Bold"/>
                  <a:ea typeface="Montserrat Bold"/>
                  <a:cs typeface="Montserrat Bold"/>
                  <a:sym typeface="Montserrat Bold"/>
                </a:rPr>
                <a:t>Sonnet</a:t>
              </a:r>
            </a:p>
          </p:txBody>
        </p:sp>
      </p:grpSp>
      <p:grpSp>
        <p:nvGrpSpPr>
          <p:cNvPr name="Group 108" id="108"/>
          <p:cNvGrpSpPr/>
          <p:nvPr/>
        </p:nvGrpSpPr>
        <p:grpSpPr>
          <a:xfrm rot="0">
            <a:off x="15097144" y="5949121"/>
            <a:ext cx="2510028" cy="503739"/>
            <a:chOff x="0" y="0"/>
            <a:chExt cx="3346704" cy="671652"/>
          </a:xfrm>
        </p:grpSpPr>
        <p:sp>
          <p:nvSpPr>
            <p:cNvPr name="Freeform 109" id="109"/>
            <p:cNvSpPr/>
            <p:nvPr/>
          </p:nvSpPr>
          <p:spPr>
            <a:xfrm flipH="false" flipV="false" rot="0">
              <a:off x="0" y="0"/>
              <a:ext cx="3346704" cy="671652"/>
            </a:xfrm>
            <a:custGeom>
              <a:avLst/>
              <a:gdLst/>
              <a:ahLst/>
              <a:cxnLst/>
              <a:rect r="r" b="b" t="t" l="l"/>
              <a:pathLst>
                <a:path h="671652" w="3346704">
                  <a:moveTo>
                    <a:pt x="0" y="0"/>
                  </a:moveTo>
                  <a:lnTo>
                    <a:pt x="3346704" y="0"/>
                  </a:lnTo>
                  <a:lnTo>
                    <a:pt x="3346704" y="671652"/>
                  </a:lnTo>
                  <a:lnTo>
                    <a:pt x="0" y="671652"/>
                  </a:lnTo>
                  <a:close/>
                </a:path>
              </a:pathLst>
            </a:custGeom>
            <a:blipFill>
              <a:blip r:embed="rId2">
                <a:alphaModFix amt="0"/>
              </a:blip>
              <a:stretch>
                <a:fillRect l="0" t="-49440" r="0" b="-44739"/>
              </a:stretch>
            </a:blipFill>
          </p:spPr>
        </p:sp>
        <p:sp>
          <p:nvSpPr>
            <p:cNvPr name="TextBox 110" id="110"/>
            <p:cNvSpPr txBox="true"/>
            <p:nvPr/>
          </p:nvSpPr>
          <p:spPr>
            <a:xfrm>
              <a:off x="0" y="0"/>
              <a:ext cx="3346704" cy="671652"/>
            </a:xfrm>
            <a:prstGeom prst="rect">
              <a:avLst/>
            </a:prstGeom>
          </p:spPr>
          <p:txBody>
            <a:bodyPr anchor="ctr" rtlCol="false" tIns="0" lIns="0" bIns="0" rIns="0"/>
            <a:lstStyle/>
            <a:p>
              <a:pPr algn="r">
                <a:lnSpc>
                  <a:spcPts val="3060"/>
                </a:lnSpc>
              </a:pPr>
              <a:r>
                <a:rPr lang="en-US" b="true" sz="2550">
                  <a:solidFill>
                    <a:srgbClr val="FFFFFF"/>
                  </a:solidFill>
                  <a:latin typeface="Montserrat Bold"/>
                  <a:ea typeface="Montserrat Bold"/>
                  <a:cs typeface="Montserrat Bold"/>
                  <a:sym typeface="Montserrat Bold"/>
                </a:rPr>
                <a:t>$0.006749</a:t>
              </a:r>
            </a:p>
          </p:txBody>
        </p:sp>
      </p:grpSp>
      <p:grpSp>
        <p:nvGrpSpPr>
          <p:cNvPr name="Group 111" id="111"/>
          <p:cNvGrpSpPr/>
          <p:nvPr/>
        </p:nvGrpSpPr>
        <p:grpSpPr>
          <a:xfrm rot="0">
            <a:off x="15097144" y="6442897"/>
            <a:ext cx="2510028" cy="384048"/>
            <a:chOff x="0" y="0"/>
            <a:chExt cx="3346704" cy="512064"/>
          </a:xfrm>
        </p:grpSpPr>
        <p:sp>
          <p:nvSpPr>
            <p:cNvPr name="Freeform 112" id="112"/>
            <p:cNvSpPr/>
            <p:nvPr/>
          </p:nvSpPr>
          <p:spPr>
            <a:xfrm flipH="false" flipV="false" rot="0">
              <a:off x="0" y="0"/>
              <a:ext cx="3346704" cy="512064"/>
            </a:xfrm>
            <a:custGeom>
              <a:avLst/>
              <a:gdLst/>
              <a:ahLst/>
              <a:cxnLst/>
              <a:rect r="r" b="b" t="t" l="l"/>
              <a:pathLst>
                <a:path h="512064" w="3346704">
                  <a:moveTo>
                    <a:pt x="0" y="0"/>
                  </a:moveTo>
                  <a:lnTo>
                    <a:pt x="3346704" y="0"/>
                  </a:lnTo>
                  <a:lnTo>
                    <a:pt x="3346704" y="512064"/>
                  </a:lnTo>
                  <a:lnTo>
                    <a:pt x="0" y="512064"/>
                  </a:lnTo>
                  <a:close/>
                </a:path>
              </a:pathLst>
            </a:custGeom>
            <a:blipFill>
              <a:blip r:embed="rId2">
                <a:alphaModFix amt="0"/>
              </a:blip>
              <a:stretch>
                <a:fillRect l="0" t="-77348" r="0" b="-77348"/>
              </a:stretch>
            </a:blipFill>
          </p:spPr>
        </p:sp>
        <p:sp>
          <p:nvSpPr>
            <p:cNvPr name="TextBox 113" id="113"/>
            <p:cNvSpPr txBox="true"/>
            <p:nvPr/>
          </p:nvSpPr>
          <p:spPr>
            <a:xfrm>
              <a:off x="0" y="-9525"/>
              <a:ext cx="3346704" cy="521589"/>
            </a:xfrm>
            <a:prstGeom prst="rect">
              <a:avLst/>
            </a:prstGeom>
          </p:spPr>
          <p:txBody>
            <a:bodyPr anchor="ctr" rtlCol="false" tIns="0" lIns="0" bIns="0" rIns="0"/>
            <a:lstStyle/>
            <a:p>
              <a:pPr algn="r">
                <a:lnSpc>
                  <a:spcPts val="1709"/>
                </a:lnSpc>
              </a:pPr>
              <a:r>
                <a:rPr lang="en-US" sz="1425">
                  <a:solidFill>
                    <a:srgbClr val="FFFFFF"/>
                  </a:solidFill>
                  <a:latin typeface="Montserrat"/>
                  <a:ea typeface="Montserrat"/>
                  <a:cs typeface="Montserrat"/>
                  <a:sym typeface="Montserrat"/>
                </a:rPr>
                <a:t>smart input cost · −60.0%</a:t>
              </a:r>
            </a:p>
          </p:txBody>
        </p:sp>
      </p:grpSp>
      <p:sp>
        <p:nvSpPr>
          <p:cNvPr name="TextBox 114" id="114"/>
          <p:cNvSpPr txBox="true"/>
          <p:nvPr/>
        </p:nvSpPr>
        <p:spPr>
          <a:xfrm rot="0">
            <a:off x="685819" y="7634274"/>
            <a:ext cx="15910560" cy="859155"/>
          </a:xfrm>
          <a:prstGeom prst="rect">
            <a:avLst/>
          </a:prstGeom>
        </p:spPr>
        <p:txBody>
          <a:bodyPr anchor="t" rtlCol="false" tIns="0" lIns="0" bIns="0" rIns="0">
            <a:spAutoFit/>
          </a:bodyPr>
          <a:lstStyle/>
          <a:p>
            <a:pPr algn="l">
              <a:lnSpc>
                <a:spcPts val="3510"/>
              </a:lnSpc>
            </a:pPr>
            <a:r>
              <a:rPr lang="en-US" b="true" sz="2250">
                <a:solidFill>
                  <a:srgbClr val="FFFFFF"/>
                </a:solidFill>
                <a:latin typeface="Montserrat Bold"/>
                <a:ea typeface="Montserrat Bold"/>
                <a:cs typeface="Montserrat Bold"/>
                <a:sym typeface="Montserrat Bold"/>
              </a:rPr>
              <a:t>What “0 switches” means: </a:t>
            </a:r>
            <a:r>
              <a:rPr lang="en-US" sz="2250">
                <a:solidFill>
                  <a:srgbClr val="FFFFFF"/>
                </a:solidFill>
                <a:latin typeface="Montserrat"/>
                <a:ea typeface="Montserrat"/>
                <a:cs typeface="Montserrat"/>
                <a:sym typeface="Montserrat"/>
              </a:rPr>
              <a:t>this trajectory was rerouted from Opus to Sonnet, then Sonnet served every call. The model changed versus the log—but never inside our route—so the growing prefix stayed cache-readable.</a:t>
            </a:r>
          </a:p>
        </p:txBody>
      </p:sp>
      <p:sp>
        <p:nvSpPr>
          <p:cNvPr name="Freeform 115" id="115"/>
          <p:cNvSpPr/>
          <p:nvPr/>
        </p:nvSpPr>
        <p:spPr>
          <a:xfrm flipH="false" flipV="false" rot="0">
            <a:off x="8134140" y="-12060055"/>
            <a:ext cx="12693341" cy="13630434"/>
          </a:xfrm>
          <a:custGeom>
            <a:avLst/>
            <a:gdLst/>
            <a:ahLst/>
            <a:cxnLst/>
            <a:rect r="r" b="b" t="t" l="l"/>
            <a:pathLst>
              <a:path h="13630434" w="12693341">
                <a:moveTo>
                  <a:pt x="0" y="0"/>
                </a:moveTo>
                <a:lnTo>
                  <a:pt x="12693341" y="0"/>
                </a:lnTo>
                <a:lnTo>
                  <a:pt x="12693341" y="13630434"/>
                </a:lnTo>
                <a:lnTo>
                  <a:pt x="0" y="13630434"/>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60120" y="1577340"/>
            <a:ext cx="15773400" cy="1400493"/>
            <a:chOff x="0" y="0"/>
            <a:chExt cx="21031200" cy="1867324"/>
          </a:xfrm>
        </p:grpSpPr>
        <p:sp>
          <p:nvSpPr>
            <p:cNvPr name="Freeform 3" id="3"/>
            <p:cNvSpPr/>
            <p:nvPr/>
          </p:nvSpPr>
          <p:spPr>
            <a:xfrm flipH="false" flipV="false" rot="0">
              <a:off x="0" y="0"/>
              <a:ext cx="21031200" cy="1867324"/>
            </a:xfrm>
            <a:custGeom>
              <a:avLst/>
              <a:gdLst/>
              <a:ahLst/>
              <a:cxnLst/>
              <a:rect r="r" b="b" t="t" l="l"/>
              <a:pathLst>
                <a:path h="1867324" w="21031200">
                  <a:moveTo>
                    <a:pt x="0" y="0"/>
                  </a:moveTo>
                  <a:lnTo>
                    <a:pt x="21031200" y="0"/>
                  </a:lnTo>
                  <a:lnTo>
                    <a:pt x="21031200" y="1867324"/>
                  </a:lnTo>
                  <a:lnTo>
                    <a:pt x="0" y="1867324"/>
                  </a:lnTo>
                  <a:close/>
                </a:path>
              </a:pathLst>
            </a:custGeom>
            <a:blipFill>
              <a:blip r:embed="rId2">
                <a:alphaModFix amt="0"/>
              </a:blip>
              <a:stretch>
                <a:fillRect l="0" t="-170486" r="0" b="-168423"/>
              </a:stretch>
            </a:blipFill>
          </p:spPr>
        </p:sp>
        <p:sp>
          <p:nvSpPr>
            <p:cNvPr name="TextBox 4" id="4"/>
            <p:cNvSpPr txBox="true"/>
            <p:nvPr/>
          </p:nvSpPr>
          <p:spPr>
            <a:xfrm>
              <a:off x="0" y="-314325"/>
              <a:ext cx="21031200" cy="2181649"/>
            </a:xfrm>
            <a:prstGeom prst="rect">
              <a:avLst/>
            </a:prstGeom>
          </p:spPr>
          <p:txBody>
            <a:bodyPr anchor="ctr" rtlCol="false" tIns="0" lIns="0" bIns="0" rIns="0"/>
            <a:lstStyle/>
            <a:p>
              <a:pPr algn="l">
                <a:lnSpc>
                  <a:spcPts val="6600"/>
                </a:lnSpc>
              </a:pPr>
              <a:r>
                <a:rPr lang="en-US" b="true" sz="5500">
                  <a:solidFill>
                    <a:srgbClr val="FFFFFF"/>
                  </a:solidFill>
                  <a:latin typeface="Prachason Neue Expanded Bold"/>
                  <a:ea typeface="Prachason Neue Expanded Bold"/>
                  <a:cs typeface="Prachason Neue Expanded Bold"/>
                  <a:sym typeface="Prachason Neue Expanded Bold"/>
                </a:rPr>
                <a:t>What the router looks at</a:t>
              </a:r>
            </a:p>
          </p:txBody>
        </p:sp>
      </p:grpSp>
      <p:grpSp>
        <p:nvGrpSpPr>
          <p:cNvPr name="Group 5" id="5"/>
          <p:cNvGrpSpPr/>
          <p:nvPr/>
        </p:nvGrpSpPr>
        <p:grpSpPr>
          <a:xfrm rot="0">
            <a:off x="945832" y="3483292"/>
            <a:ext cx="7640955" cy="5514975"/>
            <a:chOff x="0" y="0"/>
            <a:chExt cx="10187940" cy="7353300"/>
          </a:xfrm>
        </p:grpSpPr>
        <p:sp>
          <p:nvSpPr>
            <p:cNvPr name="Freeform 6" id="6"/>
            <p:cNvSpPr/>
            <p:nvPr/>
          </p:nvSpPr>
          <p:spPr>
            <a:xfrm flipH="false" flipV="false" rot="0">
              <a:off x="0" y="0"/>
              <a:ext cx="10187940" cy="7353300"/>
            </a:xfrm>
            <a:custGeom>
              <a:avLst/>
              <a:gdLst/>
              <a:ahLst/>
              <a:cxnLst/>
              <a:rect r="r" b="b" t="t" l="l"/>
              <a:pathLst>
                <a:path h="7353300" w="10187940">
                  <a:moveTo>
                    <a:pt x="0" y="220599"/>
                  </a:moveTo>
                  <a:cubicBezTo>
                    <a:pt x="0" y="98806"/>
                    <a:pt x="98806" y="0"/>
                    <a:pt x="220599" y="0"/>
                  </a:cubicBezTo>
                  <a:lnTo>
                    <a:pt x="9967341" y="0"/>
                  </a:lnTo>
                  <a:cubicBezTo>
                    <a:pt x="10089135" y="0"/>
                    <a:pt x="10187940" y="98806"/>
                    <a:pt x="10187940" y="220599"/>
                  </a:cubicBezTo>
                  <a:lnTo>
                    <a:pt x="10187940" y="7132701"/>
                  </a:lnTo>
                  <a:cubicBezTo>
                    <a:pt x="10187940" y="7254494"/>
                    <a:pt x="10089135" y="7353300"/>
                    <a:pt x="9967341" y="7353300"/>
                  </a:cubicBezTo>
                  <a:lnTo>
                    <a:pt x="220599" y="7353300"/>
                  </a:lnTo>
                  <a:cubicBezTo>
                    <a:pt x="98806" y="7353300"/>
                    <a:pt x="0" y="7254494"/>
                    <a:pt x="0" y="7132701"/>
                  </a:cubicBezTo>
                  <a:close/>
                </a:path>
              </a:pathLst>
            </a:custGeom>
            <a:solidFill>
              <a:srgbClr val="FFFFFF"/>
            </a:solidFill>
            <a:ln w="28575" cap="sq">
              <a:solidFill>
                <a:srgbClr val="FFFFFF"/>
              </a:solidFill>
              <a:prstDash val="solid"/>
              <a:miter/>
            </a:ln>
          </p:spPr>
        </p:sp>
      </p:grpSp>
      <p:grpSp>
        <p:nvGrpSpPr>
          <p:cNvPr name="Group 7" id="7"/>
          <p:cNvGrpSpPr/>
          <p:nvPr/>
        </p:nvGrpSpPr>
        <p:grpSpPr>
          <a:xfrm rot="0">
            <a:off x="1440180" y="3977640"/>
            <a:ext cx="6652260" cy="822960"/>
            <a:chOff x="0" y="0"/>
            <a:chExt cx="8869680" cy="1097280"/>
          </a:xfrm>
        </p:grpSpPr>
        <p:sp>
          <p:nvSpPr>
            <p:cNvPr name="Freeform 8" id="8"/>
            <p:cNvSpPr/>
            <p:nvPr/>
          </p:nvSpPr>
          <p:spPr>
            <a:xfrm flipH="false" flipV="false" rot="0">
              <a:off x="0" y="0"/>
              <a:ext cx="8869680" cy="1097280"/>
            </a:xfrm>
            <a:custGeom>
              <a:avLst/>
              <a:gdLst/>
              <a:ahLst/>
              <a:cxnLst/>
              <a:rect r="r" b="b" t="t" l="l"/>
              <a:pathLst>
                <a:path h="1097280" w="8869680">
                  <a:moveTo>
                    <a:pt x="0" y="0"/>
                  </a:moveTo>
                  <a:lnTo>
                    <a:pt x="8869680" y="0"/>
                  </a:lnTo>
                  <a:lnTo>
                    <a:pt x="8869680" y="1097280"/>
                  </a:lnTo>
                  <a:lnTo>
                    <a:pt x="0" y="1097280"/>
                  </a:lnTo>
                  <a:close/>
                </a:path>
              </a:pathLst>
            </a:custGeom>
            <a:blipFill>
              <a:blip r:embed="rId2">
                <a:alphaModFix amt="0"/>
              </a:blip>
              <a:stretch>
                <a:fillRect l="0" t="-107504" r="0" b="-107504"/>
              </a:stretch>
            </a:blipFill>
          </p:spPr>
        </p:sp>
        <p:sp>
          <p:nvSpPr>
            <p:cNvPr name="TextBox 9" id="9"/>
            <p:cNvSpPr txBox="true"/>
            <p:nvPr/>
          </p:nvSpPr>
          <p:spPr>
            <a:xfrm>
              <a:off x="0" y="9525"/>
              <a:ext cx="8869680" cy="1087755"/>
            </a:xfrm>
            <a:prstGeom prst="rect">
              <a:avLst/>
            </a:prstGeom>
          </p:spPr>
          <p:txBody>
            <a:bodyPr anchor="ctr" rtlCol="false" tIns="0" lIns="0" bIns="0" rIns="0"/>
            <a:lstStyle/>
            <a:p>
              <a:pPr algn="l">
                <a:lnSpc>
                  <a:spcPts val="2879"/>
                </a:lnSpc>
              </a:pPr>
              <a:r>
                <a:rPr lang="en-US" b="true" sz="2400">
                  <a:solidFill>
                    <a:srgbClr val="150079"/>
                  </a:solidFill>
                  <a:latin typeface="Montserrat Bold"/>
                  <a:ea typeface="Montserrat Bold"/>
                  <a:cs typeface="Montserrat Bold"/>
                  <a:sym typeface="Montserrat Bold"/>
                </a:rPr>
                <a:t>Structure in the traces</a:t>
              </a:r>
            </a:p>
          </p:txBody>
        </p:sp>
      </p:grpSp>
      <p:grpSp>
        <p:nvGrpSpPr>
          <p:cNvPr name="Group 10" id="10"/>
          <p:cNvGrpSpPr/>
          <p:nvPr/>
        </p:nvGrpSpPr>
        <p:grpSpPr>
          <a:xfrm rot="0">
            <a:off x="1440180" y="4937760"/>
            <a:ext cx="6652260" cy="3566160"/>
            <a:chOff x="0" y="0"/>
            <a:chExt cx="8869680" cy="4754880"/>
          </a:xfrm>
        </p:grpSpPr>
        <p:sp>
          <p:nvSpPr>
            <p:cNvPr name="Freeform 11" id="11"/>
            <p:cNvSpPr/>
            <p:nvPr/>
          </p:nvSpPr>
          <p:spPr>
            <a:xfrm flipH="false" flipV="false" rot="0">
              <a:off x="0" y="0"/>
              <a:ext cx="8869680" cy="4754880"/>
            </a:xfrm>
            <a:custGeom>
              <a:avLst/>
              <a:gdLst/>
              <a:ahLst/>
              <a:cxnLst/>
              <a:rect r="r" b="b" t="t" l="l"/>
              <a:pathLst>
                <a:path h="4754880" w="8869680">
                  <a:moveTo>
                    <a:pt x="0" y="0"/>
                  </a:moveTo>
                  <a:lnTo>
                    <a:pt x="8869680" y="0"/>
                  </a:lnTo>
                  <a:lnTo>
                    <a:pt x="8869680" y="4754880"/>
                  </a:lnTo>
                  <a:lnTo>
                    <a:pt x="0" y="4754880"/>
                  </a:lnTo>
                  <a:close/>
                </a:path>
              </a:pathLst>
            </a:custGeom>
            <a:blipFill>
              <a:blip r:embed="rId2">
                <a:alphaModFix amt="0"/>
              </a:blip>
              <a:stretch>
                <a:fillRect l="-18781" t="0" r="-18781" b="0"/>
              </a:stretch>
            </a:blipFill>
          </p:spPr>
        </p:sp>
        <p:sp>
          <p:nvSpPr>
            <p:cNvPr name="TextBox 12" id="12"/>
            <p:cNvSpPr txBox="true"/>
            <p:nvPr/>
          </p:nvSpPr>
          <p:spPr>
            <a:xfrm>
              <a:off x="0" y="-85725"/>
              <a:ext cx="8869680" cy="4840605"/>
            </a:xfrm>
            <a:prstGeom prst="rect">
              <a:avLst/>
            </a:prstGeom>
          </p:spPr>
          <p:txBody>
            <a:bodyPr anchor="ctr" rtlCol="false" tIns="0" lIns="0" bIns="0" rIns="0"/>
            <a:lstStyle/>
            <a:p>
              <a:pPr algn="l">
                <a:lnSpc>
                  <a:spcPts val="3510"/>
                </a:lnSpc>
              </a:pPr>
              <a:r>
                <a:rPr lang="en-US" sz="2250">
                  <a:solidFill>
                    <a:srgbClr val="0D0D1A"/>
                  </a:solidFill>
                  <a:latin typeface="Montserrat"/>
                  <a:ea typeface="Montserrat"/>
                  <a:cs typeface="Montserrat"/>
                  <a:sym typeface="Montserrat"/>
                </a:rPr>
                <a:t>A logistic classifier reads the opening call only: </a:t>
              </a:r>
            </a:p>
            <a:p>
              <a:pPr algn="l" marL="485775" indent="-242888" lvl="1">
                <a:lnSpc>
                  <a:spcPts val="3510"/>
                </a:lnSpc>
                <a:buFont typeface="Arial"/>
                <a:buChar char="•"/>
              </a:pPr>
              <a:r>
                <a:rPr lang="en-US" sz="2250">
                  <a:solidFill>
                    <a:srgbClr val="0D0D1A"/>
                  </a:solidFill>
                  <a:latin typeface="Montserrat"/>
                  <a:ea typeface="Montserrat"/>
                  <a:cs typeface="Montserrat"/>
                  <a:sym typeface="Montserrat"/>
                </a:rPr>
                <a:t>presence of reasoning items,</a:t>
              </a:r>
            </a:p>
            <a:p>
              <a:pPr algn="l" marL="485775" indent="-242888" lvl="1">
                <a:lnSpc>
                  <a:spcPts val="3510"/>
                </a:lnSpc>
                <a:buFont typeface="Arial"/>
                <a:buChar char="•"/>
              </a:pPr>
              <a:r>
                <a:rPr lang="en-US" sz="2250">
                  <a:solidFill>
                    <a:srgbClr val="0D0D1A"/>
                  </a:solidFill>
                  <a:latin typeface="Montserrat"/>
                  <a:ea typeface="Montserrat"/>
                  <a:cs typeface="Montserrat"/>
                  <a:sym typeface="Montserrat"/>
                </a:rPr>
                <a:t>input images, </a:t>
              </a:r>
            </a:p>
            <a:p>
              <a:pPr algn="l" marL="485775" indent="-242888" lvl="1">
                <a:lnSpc>
                  <a:spcPts val="3510"/>
                </a:lnSpc>
                <a:buFont typeface="Arial"/>
                <a:buChar char="•"/>
              </a:pPr>
              <a:r>
                <a:rPr lang="en-US" sz="2250">
                  <a:solidFill>
                    <a:srgbClr val="0D0D1A"/>
                  </a:solidFill>
                  <a:latin typeface="Montserrat"/>
                  <a:ea typeface="Montserrat"/>
                  <a:cs typeface="Montserrat"/>
                  <a:sym typeface="Montserrat"/>
                </a:rPr>
                <a:t>position in the trajectory, and </a:t>
              </a:r>
            </a:p>
            <a:p>
              <a:pPr algn="l" marL="485775" indent="-242888" lvl="1">
                <a:lnSpc>
                  <a:spcPts val="3510"/>
                </a:lnSpc>
                <a:buFont typeface="Arial"/>
                <a:buChar char="•"/>
              </a:pPr>
              <a:r>
                <a:rPr lang="en-US" sz="2250">
                  <a:solidFill>
                    <a:srgbClr val="0D0D1A"/>
                  </a:solidFill>
                  <a:latin typeface="Montserrat"/>
                  <a:ea typeface="Montserrat"/>
                  <a:cs typeface="Montserrat"/>
                  <a:sym typeface="Montserrat"/>
                </a:rPr>
                <a:t>task category. </a:t>
              </a:r>
            </a:p>
            <a:p>
              <a:pPr algn="l">
                <a:lnSpc>
                  <a:spcPts val="3510"/>
                </a:lnSpc>
              </a:pPr>
            </a:p>
            <a:p>
              <a:pPr algn="l">
                <a:lnSpc>
                  <a:spcPts val="3510"/>
                </a:lnSpc>
              </a:pPr>
              <a:r>
                <a:rPr lang="en-US" sz="2250">
                  <a:solidFill>
                    <a:srgbClr val="0D0D1A"/>
                  </a:solidFill>
                  <a:latin typeface="Montserrat"/>
                  <a:ea typeface="Montserrat"/>
                  <a:cs typeface="Montserrat"/>
                  <a:sym typeface="Montserrat"/>
                </a:rPr>
                <a:t>It predicts whether the logged model’s next action is a simple, low-complexity tool call.</a:t>
              </a:r>
            </a:p>
          </p:txBody>
        </p:sp>
      </p:grpSp>
      <p:grpSp>
        <p:nvGrpSpPr>
          <p:cNvPr name="Group 13" id="13"/>
          <p:cNvGrpSpPr/>
          <p:nvPr/>
        </p:nvGrpSpPr>
        <p:grpSpPr>
          <a:xfrm rot="0">
            <a:off x="9106852" y="3483292"/>
            <a:ext cx="7640955" cy="5514975"/>
            <a:chOff x="0" y="0"/>
            <a:chExt cx="10187940" cy="7353300"/>
          </a:xfrm>
        </p:grpSpPr>
        <p:sp>
          <p:nvSpPr>
            <p:cNvPr name="Freeform 14" id="14"/>
            <p:cNvSpPr/>
            <p:nvPr/>
          </p:nvSpPr>
          <p:spPr>
            <a:xfrm flipH="false" flipV="false" rot="0">
              <a:off x="0" y="0"/>
              <a:ext cx="10187940" cy="7353300"/>
            </a:xfrm>
            <a:custGeom>
              <a:avLst/>
              <a:gdLst/>
              <a:ahLst/>
              <a:cxnLst/>
              <a:rect r="r" b="b" t="t" l="l"/>
              <a:pathLst>
                <a:path h="7353300" w="10187940">
                  <a:moveTo>
                    <a:pt x="0" y="220599"/>
                  </a:moveTo>
                  <a:cubicBezTo>
                    <a:pt x="0" y="98806"/>
                    <a:pt x="98806" y="0"/>
                    <a:pt x="220599" y="0"/>
                  </a:cubicBezTo>
                  <a:lnTo>
                    <a:pt x="9967341" y="0"/>
                  </a:lnTo>
                  <a:cubicBezTo>
                    <a:pt x="10089135" y="0"/>
                    <a:pt x="10187940" y="98806"/>
                    <a:pt x="10187940" y="220599"/>
                  </a:cubicBezTo>
                  <a:lnTo>
                    <a:pt x="10187940" y="7132701"/>
                  </a:lnTo>
                  <a:cubicBezTo>
                    <a:pt x="10187940" y="7254494"/>
                    <a:pt x="10089135" y="7353300"/>
                    <a:pt x="9967341" y="7353300"/>
                  </a:cubicBezTo>
                  <a:lnTo>
                    <a:pt x="220599" y="7353300"/>
                  </a:lnTo>
                  <a:cubicBezTo>
                    <a:pt x="98806" y="7353300"/>
                    <a:pt x="0" y="7254494"/>
                    <a:pt x="0" y="7132701"/>
                  </a:cubicBezTo>
                  <a:close/>
                </a:path>
              </a:pathLst>
            </a:custGeom>
            <a:solidFill>
              <a:srgbClr val="FFFFFF"/>
            </a:solidFill>
            <a:ln w="28575" cap="sq">
              <a:solidFill>
                <a:srgbClr val="FFFFFF"/>
              </a:solidFill>
              <a:prstDash val="solid"/>
              <a:miter/>
            </a:ln>
          </p:spPr>
        </p:sp>
      </p:grpSp>
      <p:grpSp>
        <p:nvGrpSpPr>
          <p:cNvPr name="Group 15" id="15"/>
          <p:cNvGrpSpPr/>
          <p:nvPr/>
        </p:nvGrpSpPr>
        <p:grpSpPr>
          <a:xfrm rot="0">
            <a:off x="9601200" y="3977640"/>
            <a:ext cx="6652260" cy="822960"/>
            <a:chOff x="0" y="0"/>
            <a:chExt cx="8869680" cy="1097280"/>
          </a:xfrm>
        </p:grpSpPr>
        <p:sp>
          <p:nvSpPr>
            <p:cNvPr name="Freeform 16" id="16"/>
            <p:cNvSpPr/>
            <p:nvPr/>
          </p:nvSpPr>
          <p:spPr>
            <a:xfrm flipH="false" flipV="false" rot="0">
              <a:off x="0" y="0"/>
              <a:ext cx="8869680" cy="1097280"/>
            </a:xfrm>
            <a:custGeom>
              <a:avLst/>
              <a:gdLst/>
              <a:ahLst/>
              <a:cxnLst/>
              <a:rect r="r" b="b" t="t" l="l"/>
              <a:pathLst>
                <a:path h="1097280" w="8869680">
                  <a:moveTo>
                    <a:pt x="0" y="0"/>
                  </a:moveTo>
                  <a:lnTo>
                    <a:pt x="8869680" y="0"/>
                  </a:lnTo>
                  <a:lnTo>
                    <a:pt x="8869680" y="1097280"/>
                  </a:lnTo>
                  <a:lnTo>
                    <a:pt x="0" y="1097280"/>
                  </a:lnTo>
                  <a:close/>
                </a:path>
              </a:pathLst>
            </a:custGeom>
            <a:blipFill>
              <a:blip r:embed="rId2">
                <a:alphaModFix amt="0"/>
              </a:blip>
              <a:stretch>
                <a:fillRect l="0" t="-107504" r="0" b="-107504"/>
              </a:stretch>
            </a:blipFill>
          </p:spPr>
        </p:sp>
        <p:sp>
          <p:nvSpPr>
            <p:cNvPr name="TextBox 17" id="17"/>
            <p:cNvSpPr txBox="true"/>
            <p:nvPr/>
          </p:nvSpPr>
          <p:spPr>
            <a:xfrm>
              <a:off x="0" y="9525"/>
              <a:ext cx="8869680" cy="1087755"/>
            </a:xfrm>
            <a:prstGeom prst="rect">
              <a:avLst/>
            </a:prstGeom>
          </p:spPr>
          <p:txBody>
            <a:bodyPr anchor="ctr" rtlCol="false" tIns="0" lIns="0" bIns="0" rIns="0"/>
            <a:lstStyle/>
            <a:p>
              <a:pPr algn="l">
                <a:lnSpc>
                  <a:spcPts val="2879"/>
                </a:lnSpc>
              </a:pPr>
              <a:r>
                <a:rPr lang="en-US" sz="2400" b="true">
                  <a:solidFill>
                    <a:srgbClr val="150079"/>
                  </a:solidFill>
                  <a:latin typeface="Montserrat Bold"/>
                  <a:ea typeface="Montserrat Bold"/>
                  <a:cs typeface="Montserrat Bold"/>
                  <a:sym typeface="Montserrat Bold"/>
                </a:rPr>
                <a:t>Cache before 1</a:t>
              </a:r>
              <a:r>
                <a:rPr lang="en-US" sz="2400" b="true">
                  <a:solidFill>
                    <a:srgbClr val="150079"/>
                  </a:solidFill>
                  <a:latin typeface="Montserrat Bold"/>
                  <a:ea typeface="Montserrat Bold"/>
                  <a:cs typeface="Montserrat Bold"/>
                  <a:sym typeface="Montserrat Bold"/>
                </a:rPr>
                <a:t>st</a:t>
              </a:r>
              <a:r>
                <a:rPr lang="en-US" sz="2400" b="true">
                  <a:solidFill>
                    <a:srgbClr val="150079"/>
                  </a:solidFill>
                  <a:latin typeface="Montserrat Bold"/>
                  <a:ea typeface="Montserrat Bold"/>
                  <a:cs typeface="Montserrat Bold"/>
                  <a:sym typeface="Montserrat Bold"/>
                </a:rPr>
                <a:t> Call</a:t>
              </a:r>
            </a:p>
          </p:txBody>
        </p:sp>
      </p:grpSp>
      <p:grpSp>
        <p:nvGrpSpPr>
          <p:cNvPr name="Group 18" id="18"/>
          <p:cNvGrpSpPr/>
          <p:nvPr/>
        </p:nvGrpSpPr>
        <p:grpSpPr>
          <a:xfrm rot="0">
            <a:off x="9601200" y="4937760"/>
            <a:ext cx="6652260" cy="3566160"/>
            <a:chOff x="0" y="0"/>
            <a:chExt cx="8869680" cy="4754880"/>
          </a:xfrm>
        </p:grpSpPr>
        <p:sp>
          <p:nvSpPr>
            <p:cNvPr name="Freeform 19" id="19"/>
            <p:cNvSpPr/>
            <p:nvPr/>
          </p:nvSpPr>
          <p:spPr>
            <a:xfrm flipH="false" flipV="false" rot="0">
              <a:off x="0" y="0"/>
              <a:ext cx="8869680" cy="4754880"/>
            </a:xfrm>
            <a:custGeom>
              <a:avLst/>
              <a:gdLst/>
              <a:ahLst/>
              <a:cxnLst/>
              <a:rect r="r" b="b" t="t" l="l"/>
              <a:pathLst>
                <a:path h="4754880" w="8869680">
                  <a:moveTo>
                    <a:pt x="0" y="0"/>
                  </a:moveTo>
                  <a:lnTo>
                    <a:pt x="8869680" y="0"/>
                  </a:lnTo>
                  <a:lnTo>
                    <a:pt x="8869680" y="4754880"/>
                  </a:lnTo>
                  <a:lnTo>
                    <a:pt x="0" y="4754880"/>
                  </a:lnTo>
                  <a:close/>
                </a:path>
              </a:pathLst>
            </a:custGeom>
            <a:blipFill>
              <a:blip r:embed="rId2">
                <a:alphaModFix amt="0"/>
              </a:blip>
              <a:stretch>
                <a:fillRect l="-18781" t="0" r="-18781" b="0"/>
              </a:stretch>
            </a:blipFill>
          </p:spPr>
        </p:sp>
        <p:sp>
          <p:nvSpPr>
            <p:cNvPr name="TextBox 20" id="20"/>
            <p:cNvSpPr txBox="true"/>
            <p:nvPr/>
          </p:nvSpPr>
          <p:spPr>
            <a:xfrm>
              <a:off x="0" y="-85725"/>
              <a:ext cx="8869680" cy="4840605"/>
            </a:xfrm>
            <a:prstGeom prst="rect">
              <a:avLst/>
            </a:prstGeom>
          </p:spPr>
          <p:txBody>
            <a:bodyPr anchor="ctr" rtlCol="false" tIns="0" lIns="0" bIns="0" rIns="0"/>
            <a:lstStyle/>
            <a:p>
              <a:pPr algn="l">
                <a:lnSpc>
                  <a:spcPts val="3510"/>
                </a:lnSpc>
              </a:pPr>
              <a:r>
                <a:rPr lang="en-US" sz="2250">
                  <a:solidFill>
                    <a:srgbClr val="0D0D1A"/>
                  </a:solidFill>
                  <a:latin typeface="Montserrat"/>
                  <a:ea typeface="Montserrat"/>
                  <a:cs typeface="Montserrat"/>
                  <a:sym typeface="Montserrat"/>
                </a:rPr>
                <a:t>At call_index = 1, an opening call with no reasoning items and no image content scores high on the “simple action” signal,  and routes the whole trajectory to the cheap sibling model before any tokens are spent on premium reasoning.</a:t>
              </a:r>
            </a:p>
          </p:txBody>
        </p:sp>
      </p:grpSp>
      <p:sp>
        <p:nvSpPr>
          <p:cNvPr name="Freeform 21" id="21"/>
          <p:cNvSpPr/>
          <p:nvPr/>
        </p:nvSpPr>
        <p:spPr>
          <a:xfrm flipH="false" flipV="false" rot="0">
            <a:off x="8846820" y="-10508246"/>
            <a:ext cx="12693341" cy="13630434"/>
          </a:xfrm>
          <a:custGeom>
            <a:avLst/>
            <a:gdLst/>
            <a:ahLst/>
            <a:cxnLst/>
            <a:rect r="r" b="b" t="t" l="l"/>
            <a:pathLst>
              <a:path h="13630434" w="12693341">
                <a:moveTo>
                  <a:pt x="0" y="0"/>
                </a:moveTo>
                <a:lnTo>
                  <a:pt x="12693341" y="0"/>
                </a:lnTo>
                <a:lnTo>
                  <a:pt x="12693341" y="13630434"/>
                </a:lnTo>
                <a:lnTo>
                  <a:pt x="0" y="13630434"/>
                </a:lnTo>
                <a:lnTo>
                  <a:pt x="0" y="0"/>
                </a:lnTo>
                <a:close/>
              </a:path>
            </a:pathLst>
          </a:custGeom>
          <a:blipFill>
            <a:blip r:embed="rId3"/>
            <a:stretch>
              <a:fillRect l="0" t="0" r="0" b="0"/>
            </a:stretch>
          </a:blipFill>
        </p:spPr>
      </p:sp>
      <p:sp>
        <p:nvSpPr>
          <p:cNvPr name="Freeform 22" id="22"/>
          <p:cNvSpPr/>
          <p:nvPr/>
        </p:nvSpPr>
        <p:spPr>
          <a:xfrm flipH="false" flipV="false" rot="0">
            <a:off x="4251193" y="8344356"/>
            <a:ext cx="8381159" cy="8999903"/>
          </a:xfrm>
          <a:custGeom>
            <a:avLst/>
            <a:gdLst/>
            <a:ahLst/>
            <a:cxnLst/>
            <a:rect r="r" b="b" t="t" l="l"/>
            <a:pathLst>
              <a:path h="8999903" w="8381159">
                <a:moveTo>
                  <a:pt x="0" y="0"/>
                </a:moveTo>
                <a:lnTo>
                  <a:pt x="8381159" y="0"/>
                </a:lnTo>
                <a:lnTo>
                  <a:pt x="8381159" y="8999903"/>
                </a:lnTo>
                <a:lnTo>
                  <a:pt x="0" y="8999903"/>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2782028">
            <a:off x="12653061" y="-10982900"/>
            <a:ext cx="13714032" cy="14726478"/>
          </a:xfrm>
          <a:custGeom>
            <a:avLst/>
            <a:gdLst/>
            <a:ahLst/>
            <a:cxnLst/>
            <a:rect r="r" b="b" t="t" l="l"/>
            <a:pathLst>
              <a:path h="14726478" w="13714032">
                <a:moveTo>
                  <a:pt x="0" y="0"/>
                </a:moveTo>
                <a:lnTo>
                  <a:pt x="13714032" y="0"/>
                </a:lnTo>
                <a:lnTo>
                  <a:pt x="13714032" y="14726477"/>
                </a:lnTo>
                <a:lnTo>
                  <a:pt x="0" y="14726477"/>
                </a:lnTo>
                <a:lnTo>
                  <a:pt x="0" y="0"/>
                </a:lnTo>
                <a:close/>
              </a:path>
            </a:pathLst>
          </a:custGeom>
          <a:blipFill>
            <a:blip r:embed="rId2"/>
            <a:stretch>
              <a:fillRect l="0" t="0" r="0" b="0"/>
            </a:stretch>
          </a:blipFill>
        </p:spPr>
      </p:sp>
      <p:grpSp>
        <p:nvGrpSpPr>
          <p:cNvPr name="Group 3" id="3"/>
          <p:cNvGrpSpPr/>
          <p:nvPr/>
        </p:nvGrpSpPr>
        <p:grpSpPr>
          <a:xfrm rot="0">
            <a:off x="960120" y="783045"/>
            <a:ext cx="15773400" cy="2219641"/>
            <a:chOff x="0" y="0"/>
            <a:chExt cx="21031200" cy="2959522"/>
          </a:xfrm>
        </p:grpSpPr>
        <p:sp>
          <p:nvSpPr>
            <p:cNvPr name="Freeform 4" id="4"/>
            <p:cNvSpPr/>
            <p:nvPr/>
          </p:nvSpPr>
          <p:spPr>
            <a:xfrm flipH="false" flipV="false" rot="0">
              <a:off x="0" y="0"/>
              <a:ext cx="21031200" cy="2959522"/>
            </a:xfrm>
            <a:custGeom>
              <a:avLst/>
              <a:gdLst/>
              <a:ahLst/>
              <a:cxnLst/>
              <a:rect r="r" b="b" t="t" l="l"/>
              <a:pathLst>
                <a:path h="2959522" w="21031200">
                  <a:moveTo>
                    <a:pt x="0" y="0"/>
                  </a:moveTo>
                  <a:lnTo>
                    <a:pt x="21031200" y="0"/>
                  </a:lnTo>
                  <a:lnTo>
                    <a:pt x="21031200" y="2959522"/>
                  </a:lnTo>
                  <a:lnTo>
                    <a:pt x="0" y="2959522"/>
                  </a:lnTo>
                  <a:close/>
                </a:path>
              </a:pathLst>
            </a:custGeom>
            <a:blipFill>
              <a:blip r:embed="rId3">
                <a:alphaModFix amt="0"/>
              </a:blip>
              <a:stretch>
                <a:fillRect l="0" t="-112203" r="0" b="-64728"/>
              </a:stretch>
            </a:blipFill>
          </p:spPr>
        </p:sp>
        <p:sp>
          <p:nvSpPr>
            <p:cNvPr name="TextBox 5" id="5"/>
            <p:cNvSpPr txBox="true"/>
            <p:nvPr/>
          </p:nvSpPr>
          <p:spPr>
            <a:xfrm>
              <a:off x="0" y="-314325"/>
              <a:ext cx="21031200" cy="3273847"/>
            </a:xfrm>
            <a:prstGeom prst="rect">
              <a:avLst/>
            </a:prstGeom>
          </p:spPr>
          <p:txBody>
            <a:bodyPr anchor="ctr" rtlCol="false" tIns="0" lIns="0" bIns="0" rIns="0"/>
            <a:lstStyle/>
            <a:p>
              <a:pPr algn="l">
                <a:lnSpc>
                  <a:spcPts val="6599"/>
                </a:lnSpc>
              </a:pPr>
              <a:r>
                <a:rPr lang="en-US" sz="5499" b="true">
                  <a:solidFill>
                    <a:srgbClr val="FFFFFF"/>
                  </a:solidFill>
                  <a:latin typeface="Prachason Neue Expanded Bold"/>
                  <a:ea typeface="Prachason Neue Expanded Bold"/>
                  <a:cs typeface="Prachason Neue Expanded Bold"/>
                  <a:sym typeface="Prachason Neue Expanded Bold"/>
                </a:rPr>
                <a:t>15/25 ta</a:t>
              </a:r>
              <a:r>
                <a:rPr lang="en-US" b="true" sz="5499">
                  <a:solidFill>
                    <a:srgbClr val="FFFFFF"/>
                  </a:solidFill>
                  <a:latin typeface="Prachason Neue Expanded Bold"/>
                  <a:ea typeface="Prachason Neue Expanded Bold"/>
                  <a:cs typeface="Prachason Neue Expanded Bold"/>
                  <a:sym typeface="Prachason Neue Expanded Bold"/>
                </a:rPr>
                <a:t>sks moved to cheaper models. None switched mid-task.</a:t>
              </a:r>
            </a:p>
          </p:txBody>
        </p:sp>
      </p:grpSp>
      <p:grpSp>
        <p:nvGrpSpPr>
          <p:cNvPr name="Group 6" id="6"/>
          <p:cNvGrpSpPr/>
          <p:nvPr/>
        </p:nvGrpSpPr>
        <p:grpSpPr>
          <a:xfrm rot="0">
            <a:off x="13167360" y="3223260"/>
            <a:ext cx="4183380" cy="5692140"/>
            <a:chOff x="0" y="0"/>
            <a:chExt cx="5577840" cy="7589520"/>
          </a:xfrm>
        </p:grpSpPr>
        <p:sp>
          <p:nvSpPr>
            <p:cNvPr name="Freeform 7" id="7"/>
            <p:cNvSpPr/>
            <p:nvPr/>
          </p:nvSpPr>
          <p:spPr>
            <a:xfrm flipH="false" flipV="false" rot="0">
              <a:off x="0" y="0"/>
              <a:ext cx="5577840" cy="7589520"/>
            </a:xfrm>
            <a:custGeom>
              <a:avLst/>
              <a:gdLst/>
              <a:ahLst/>
              <a:cxnLst/>
              <a:rect r="r" b="b" t="t" l="l"/>
              <a:pathLst>
                <a:path h="7589520" w="5577840">
                  <a:moveTo>
                    <a:pt x="0" y="219456"/>
                  </a:moveTo>
                  <a:cubicBezTo>
                    <a:pt x="0" y="98298"/>
                    <a:pt x="98298" y="0"/>
                    <a:pt x="219456" y="0"/>
                  </a:cubicBezTo>
                  <a:lnTo>
                    <a:pt x="5358384" y="0"/>
                  </a:lnTo>
                  <a:cubicBezTo>
                    <a:pt x="5479542" y="0"/>
                    <a:pt x="5577840" y="98298"/>
                    <a:pt x="5577840" y="219456"/>
                  </a:cubicBezTo>
                  <a:lnTo>
                    <a:pt x="5577840" y="7370064"/>
                  </a:lnTo>
                  <a:cubicBezTo>
                    <a:pt x="5577840" y="7491222"/>
                    <a:pt x="5479542" y="7589520"/>
                    <a:pt x="5358384" y="7589520"/>
                  </a:cubicBezTo>
                  <a:lnTo>
                    <a:pt x="219456" y="7589520"/>
                  </a:lnTo>
                  <a:cubicBezTo>
                    <a:pt x="98298" y="7589520"/>
                    <a:pt x="0" y="7491222"/>
                    <a:pt x="0" y="7370064"/>
                  </a:cubicBezTo>
                  <a:close/>
                </a:path>
              </a:pathLst>
            </a:custGeom>
            <a:solidFill>
              <a:srgbClr val="150079"/>
            </a:solidFill>
          </p:spPr>
        </p:sp>
      </p:grpSp>
      <p:grpSp>
        <p:nvGrpSpPr>
          <p:cNvPr name="Group 8" id="8"/>
          <p:cNvGrpSpPr/>
          <p:nvPr/>
        </p:nvGrpSpPr>
        <p:grpSpPr>
          <a:xfrm rot="0">
            <a:off x="13441680" y="3497580"/>
            <a:ext cx="3634740" cy="480060"/>
            <a:chOff x="0" y="0"/>
            <a:chExt cx="4846320" cy="640080"/>
          </a:xfrm>
        </p:grpSpPr>
        <p:sp>
          <p:nvSpPr>
            <p:cNvPr name="Freeform 9" id="9"/>
            <p:cNvSpPr/>
            <p:nvPr/>
          </p:nvSpPr>
          <p:spPr>
            <a:xfrm flipH="false" flipV="false" rot="0">
              <a:off x="0" y="0"/>
              <a:ext cx="4846320" cy="640080"/>
            </a:xfrm>
            <a:custGeom>
              <a:avLst/>
              <a:gdLst/>
              <a:ahLst/>
              <a:cxnLst/>
              <a:rect r="r" b="b" t="t" l="l"/>
              <a:pathLst>
                <a:path h="640080" w="4846320">
                  <a:moveTo>
                    <a:pt x="0" y="0"/>
                  </a:moveTo>
                  <a:lnTo>
                    <a:pt x="4846320" y="0"/>
                  </a:lnTo>
                  <a:lnTo>
                    <a:pt x="4846320" y="640080"/>
                  </a:lnTo>
                  <a:lnTo>
                    <a:pt x="0" y="640080"/>
                  </a:lnTo>
                  <a:close/>
                </a:path>
              </a:pathLst>
            </a:custGeom>
            <a:blipFill>
              <a:blip r:embed="rId3">
                <a:alphaModFix amt="0"/>
              </a:blip>
              <a:stretch>
                <a:fillRect l="0" t="-97529" r="0" b="-97529"/>
              </a:stretch>
            </a:blipFill>
          </p:spPr>
        </p:sp>
        <p:sp>
          <p:nvSpPr>
            <p:cNvPr name="TextBox 10" id="10"/>
            <p:cNvSpPr txBox="true"/>
            <p:nvPr/>
          </p:nvSpPr>
          <p:spPr>
            <a:xfrm>
              <a:off x="0" y="0"/>
              <a:ext cx="4846320" cy="640080"/>
            </a:xfrm>
            <a:prstGeom prst="rect">
              <a:avLst/>
            </a:prstGeom>
          </p:spPr>
          <p:txBody>
            <a:bodyPr anchor="ctr" rtlCol="false" tIns="0" lIns="0" bIns="0" rIns="0"/>
            <a:lstStyle/>
            <a:p>
              <a:pPr algn="l">
                <a:lnSpc>
                  <a:spcPts val="1980"/>
                </a:lnSpc>
              </a:pPr>
              <a:r>
                <a:rPr lang="en-US" b="true" sz="1650" spc="299">
                  <a:solidFill>
                    <a:srgbClr val="FFBD9E"/>
                  </a:solidFill>
                  <a:latin typeface="Montserrat Bold"/>
                  <a:ea typeface="Montserrat Bold"/>
                  <a:cs typeface="Montserrat Bold"/>
                  <a:sym typeface="Montserrat Bold"/>
                </a:rPr>
                <a:t>LOGGED POLICY</a:t>
              </a:r>
            </a:p>
          </p:txBody>
        </p:sp>
      </p:grpSp>
      <p:grpSp>
        <p:nvGrpSpPr>
          <p:cNvPr name="Group 11" id="11"/>
          <p:cNvGrpSpPr/>
          <p:nvPr/>
        </p:nvGrpSpPr>
        <p:grpSpPr>
          <a:xfrm rot="0">
            <a:off x="13441680" y="3977640"/>
            <a:ext cx="3634740" cy="778269"/>
            <a:chOff x="0" y="0"/>
            <a:chExt cx="4846320" cy="1037692"/>
          </a:xfrm>
        </p:grpSpPr>
        <p:sp>
          <p:nvSpPr>
            <p:cNvPr name="Freeform 12" id="12"/>
            <p:cNvSpPr/>
            <p:nvPr/>
          </p:nvSpPr>
          <p:spPr>
            <a:xfrm flipH="false" flipV="false" rot="0">
              <a:off x="0" y="0"/>
              <a:ext cx="4846320" cy="1037692"/>
            </a:xfrm>
            <a:custGeom>
              <a:avLst/>
              <a:gdLst/>
              <a:ahLst/>
              <a:cxnLst/>
              <a:rect r="r" b="b" t="t" l="l"/>
              <a:pathLst>
                <a:path h="1037692" w="4846320">
                  <a:moveTo>
                    <a:pt x="0" y="0"/>
                  </a:moveTo>
                  <a:lnTo>
                    <a:pt x="4846320" y="0"/>
                  </a:lnTo>
                  <a:lnTo>
                    <a:pt x="4846320" y="1037692"/>
                  </a:lnTo>
                  <a:lnTo>
                    <a:pt x="0" y="1037692"/>
                  </a:lnTo>
                  <a:close/>
                </a:path>
              </a:pathLst>
            </a:custGeom>
            <a:blipFill>
              <a:blip r:embed="rId3">
                <a:alphaModFix amt="0"/>
              </a:blip>
              <a:stretch>
                <a:fillRect l="0" t="-42535" r="0" b="-39466"/>
              </a:stretch>
            </a:blipFill>
          </p:spPr>
        </p:sp>
        <p:sp>
          <p:nvSpPr>
            <p:cNvPr name="TextBox 13" id="13"/>
            <p:cNvSpPr txBox="true"/>
            <p:nvPr/>
          </p:nvSpPr>
          <p:spPr>
            <a:xfrm>
              <a:off x="0" y="0"/>
              <a:ext cx="4846320" cy="1037692"/>
            </a:xfrm>
            <a:prstGeom prst="rect">
              <a:avLst/>
            </a:prstGeom>
          </p:spPr>
          <p:txBody>
            <a:bodyPr anchor="ctr" rtlCol="false" tIns="0" lIns="0" bIns="0" rIns="0"/>
            <a:lstStyle/>
            <a:p>
              <a:pPr algn="l">
                <a:lnSpc>
                  <a:spcPts val="4680"/>
                </a:lnSpc>
              </a:pPr>
              <a:r>
                <a:rPr lang="en-US" sz="3900" b="true">
                  <a:solidFill>
                    <a:srgbClr val="FBFAFF"/>
                  </a:solidFill>
                  <a:latin typeface="Montserrat Bold"/>
                  <a:ea typeface="Montserrat Bold"/>
                  <a:cs typeface="Montserrat Bold"/>
                  <a:sym typeface="Montserrat Bold"/>
                </a:rPr>
                <a:t>$0.2524</a:t>
              </a:r>
            </a:p>
          </p:txBody>
        </p:sp>
      </p:grpSp>
      <p:grpSp>
        <p:nvGrpSpPr>
          <p:cNvPr name="Group 14" id="14"/>
          <p:cNvGrpSpPr/>
          <p:nvPr/>
        </p:nvGrpSpPr>
        <p:grpSpPr>
          <a:xfrm rot="0">
            <a:off x="13441680" y="4732020"/>
            <a:ext cx="3634740" cy="480060"/>
            <a:chOff x="0" y="0"/>
            <a:chExt cx="4846320" cy="640080"/>
          </a:xfrm>
        </p:grpSpPr>
        <p:sp>
          <p:nvSpPr>
            <p:cNvPr name="Freeform 15" id="15"/>
            <p:cNvSpPr/>
            <p:nvPr/>
          </p:nvSpPr>
          <p:spPr>
            <a:xfrm flipH="false" flipV="false" rot="0">
              <a:off x="0" y="0"/>
              <a:ext cx="4846320" cy="640080"/>
            </a:xfrm>
            <a:custGeom>
              <a:avLst/>
              <a:gdLst/>
              <a:ahLst/>
              <a:cxnLst/>
              <a:rect r="r" b="b" t="t" l="l"/>
              <a:pathLst>
                <a:path h="640080" w="4846320">
                  <a:moveTo>
                    <a:pt x="0" y="0"/>
                  </a:moveTo>
                  <a:lnTo>
                    <a:pt x="4846320" y="0"/>
                  </a:lnTo>
                  <a:lnTo>
                    <a:pt x="4846320" y="640080"/>
                  </a:lnTo>
                  <a:lnTo>
                    <a:pt x="0" y="640080"/>
                  </a:lnTo>
                  <a:close/>
                </a:path>
              </a:pathLst>
            </a:custGeom>
            <a:blipFill>
              <a:blip r:embed="rId3">
                <a:alphaModFix amt="0"/>
              </a:blip>
              <a:stretch>
                <a:fillRect l="0" t="-97529" r="0" b="-97529"/>
              </a:stretch>
            </a:blipFill>
          </p:spPr>
        </p:sp>
        <p:sp>
          <p:nvSpPr>
            <p:cNvPr name="TextBox 16" id="16"/>
            <p:cNvSpPr txBox="true"/>
            <p:nvPr/>
          </p:nvSpPr>
          <p:spPr>
            <a:xfrm>
              <a:off x="0" y="-9525"/>
              <a:ext cx="4846320" cy="649605"/>
            </a:xfrm>
            <a:prstGeom prst="rect">
              <a:avLst/>
            </a:prstGeom>
          </p:spPr>
          <p:txBody>
            <a:bodyPr anchor="ctr" rtlCol="false" tIns="0" lIns="0" bIns="0" rIns="0"/>
            <a:lstStyle/>
            <a:p>
              <a:pPr algn="l">
                <a:lnSpc>
                  <a:spcPts val="1800"/>
                </a:lnSpc>
              </a:pPr>
              <a:r>
                <a:rPr lang="en-US" sz="1500">
                  <a:solidFill>
                    <a:srgbClr val="FBFAFF"/>
                  </a:solidFill>
                  <a:latin typeface="Montserrat"/>
                  <a:ea typeface="Montserrat"/>
                  <a:cs typeface="Montserrat"/>
                  <a:sym typeface="Montserrat"/>
                </a:rPr>
                <a:t>no routing, full price</a:t>
              </a:r>
            </a:p>
          </p:txBody>
        </p:sp>
      </p:grpSp>
      <p:grpSp>
        <p:nvGrpSpPr>
          <p:cNvPr name="Group 17" id="17"/>
          <p:cNvGrpSpPr/>
          <p:nvPr/>
        </p:nvGrpSpPr>
        <p:grpSpPr>
          <a:xfrm rot="0">
            <a:off x="13441680" y="5554980"/>
            <a:ext cx="3634740" cy="480060"/>
            <a:chOff x="0" y="0"/>
            <a:chExt cx="4846320" cy="640080"/>
          </a:xfrm>
        </p:grpSpPr>
        <p:sp>
          <p:nvSpPr>
            <p:cNvPr name="Freeform 18" id="18"/>
            <p:cNvSpPr/>
            <p:nvPr/>
          </p:nvSpPr>
          <p:spPr>
            <a:xfrm flipH="false" flipV="false" rot="0">
              <a:off x="0" y="0"/>
              <a:ext cx="4846320" cy="640080"/>
            </a:xfrm>
            <a:custGeom>
              <a:avLst/>
              <a:gdLst/>
              <a:ahLst/>
              <a:cxnLst/>
              <a:rect r="r" b="b" t="t" l="l"/>
              <a:pathLst>
                <a:path h="640080" w="4846320">
                  <a:moveTo>
                    <a:pt x="0" y="0"/>
                  </a:moveTo>
                  <a:lnTo>
                    <a:pt x="4846320" y="0"/>
                  </a:lnTo>
                  <a:lnTo>
                    <a:pt x="4846320" y="640080"/>
                  </a:lnTo>
                  <a:lnTo>
                    <a:pt x="0" y="640080"/>
                  </a:lnTo>
                  <a:close/>
                </a:path>
              </a:pathLst>
            </a:custGeom>
            <a:blipFill>
              <a:blip r:embed="rId3">
                <a:alphaModFix amt="0"/>
              </a:blip>
              <a:stretch>
                <a:fillRect l="0" t="-97529" r="0" b="-97529"/>
              </a:stretch>
            </a:blipFill>
          </p:spPr>
        </p:sp>
        <p:sp>
          <p:nvSpPr>
            <p:cNvPr name="TextBox 19" id="19"/>
            <p:cNvSpPr txBox="true"/>
            <p:nvPr/>
          </p:nvSpPr>
          <p:spPr>
            <a:xfrm>
              <a:off x="0" y="0"/>
              <a:ext cx="4846320" cy="640080"/>
            </a:xfrm>
            <a:prstGeom prst="rect">
              <a:avLst/>
            </a:prstGeom>
          </p:spPr>
          <p:txBody>
            <a:bodyPr anchor="ctr" rtlCol="false" tIns="0" lIns="0" bIns="0" rIns="0"/>
            <a:lstStyle/>
            <a:p>
              <a:pPr algn="l">
                <a:lnSpc>
                  <a:spcPts val="1980"/>
                </a:lnSpc>
              </a:pPr>
              <a:r>
                <a:rPr lang="en-US" b="true" sz="1650" spc="299">
                  <a:solidFill>
                    <a:srgbClr val="FFBD9E"/>
                  </a:solidFill>
                  <a:latin typeface="Montserrat Bold"/>
                  <a:ea typeface="Montserrat Bold"/>
                  <a:cs typeface="Montserrat Bold"/>
                  <a:sym typeface="Montserrat Bold"/>
                </a:rPr>
                <a:t>SMART ROUTER</a:t>
              </a:r>
            </a:p>
          </p:txBody>
        </p:sp>
      </p:grpSp>
      <p:grpSp>
        <p:nvGrpSpPr>
          <p:cNvPr name="Group 20" id="20"/>
          <p:cNvGrpSpPr/>
          <p:nvPr/>
        </p:nvGrpSpPr>
        <p:grpSpPr>
          <a:xfrm rot="0">
            <a:off x="13441680" y="6035040"/>
            <a:ext cx="3634740" cy="778269"/>
            <a:chOff x="0" y="0"/>
            <a:chExt cx="4846320" cy="1037692"/>
          </a:xfrm>
        </p:grpSpPr>
        <p:sp>
          <p:nvSpPr>
            <p:cNvPr name="Freeform 21" id="21"/>
            <p:cNvSpPr/>
            <p:nvPr/>
          </p:nvSpPr>
          <p:spPr>
            <a:xfrm flipH="false" flipV="false" rot="0">
              <a:off x="0" y="0"/>
              <a:ext cx="4846320" cy="1037692"/>
            </a:xfrm>
            <a:custGeom>
              <a:avLst/>
              <a:gdLst/>
              <a:ahLst/>
              <a:cxnLst/>
              <a:rect r="r" b="b" t="t" l="l"/>
              <a:pathLst>
                <a:path h="1037692" w="4846320">
                  <a:moveTo>
                    <a:pt x="0" y="0"/>
                  </a:moveTo>
                  <a:lnTo>
                    <a:pt x="4846320" y="0"/>
                  </a:lnTo>
                  <a:lnTo>
                    <a:pt x="4846320" y="1037692"/>
                  </a:lnTo>
                  <a:lnTo>
                    <a:pt x="0" y="1037692"/>
                  </a:lnTo>
                  <a:close/>
                </a:path>
              </a:pathLst>
            </a:custGeom>
            <a:blipFill>
              <a:blip r:embed="rId3">
                <a:alphaModFix amt="0"/>
              </a:blip>
              <a:stretch>
                <a:fillRect l="0" t="-42535" r="0" b="-39466"/>
              </a:stretch>
            </a:blipFill>
          </p:spPr>
        </p:sp>
        <p:sp>
          <p:nvSpPr>
            <p:cNvPr name="TextBox 22" id="22"/>
            <p:cNvSpPr txBox="true"/>
            <p:nvPr/>
          </p:nvSpPr>
          <p:spPr>
            <a:xfrm>
              <a:off x="0" y="0"/>
              <a:ext cx="4846320" cy="1037692"/>
            </a:xfrm>
            <a:prstGeom prst="rect">
              <a:avLst/>
            </a:prstGeom>
          </p:spPr>
          <p:txBody>
            <a:bodyPr anchor="ctr" rtlCol="false" tIns="0" lIns="0" bIns="0" rIns="0"/>
            <a:lstStyle/>
            <a:p>
              <a:pPr algn="l">
                <a:lnSpc>
                  <a:spcPts val="4680"/>
                </a:lnSpc>
              </a:pPr>
              <a:r>
                <a:rPr lang="en-US" sz="3900" b="true">
                  <a:solidFill>
                    <a:srgbClr val="FBFAFF"/>
                  </a:solidFill>
                  <a:latin typeface="Montserrat Bold"/>
                  <a:ea typeface="Montserrat Bold"/>
                  <a:cs typeface="Montserrat Bold"/>
                  <a:sym typeface="Montserrat Bold"/>
                </a:rPr>
                <a:t>$0.1126</a:t>
              </a:r>
            </a:p>
          </p:txBody>
        </p:sp>
      </p:grpSp>
      <p:grpSp>
        <p:nvGrpSpPr>
          <p:cNvPr name="Group 23" id="23"/>
          <p:cNvGrpSpPr/>
          <p:nvPr/>
        </p:nvGrpSpPr>
        <p:grpSpPr>
          <a:xfrm rot="0">
            <a:off x="13441680" y="6789420"/>
            <a:ext cx="3634740" cy="685800"/>
            <a:chOff x="0" y="0"/>
            <a:chExt cx="4846320" cy="914400"/>
          </a:xfrm>
        </p:grpSpPr>
        <p:sp>
          <p:nvSpPr>
            <p:cNvPr name="Freeform 24" id="24"/>
            <p:cNvSpPr/>
            <p:nvPr/>
          </p:nvSpPr>
          <p:spPr>
            <a:xfrm flipH="false" flipV="false" rot="0">
              <a:off x="0" y="0"/>
              <a:ext cx="4846320" cy="914400"/>
            </a:xfrm>
            <a:custGeom>
              <a:avLst/>
              <a:gdLst/>
              <a:ahLst/>
              <a:cxnLst/>
              <a:rect r="r" b="b" t="t" l="l"/>
              <a:pathLst>
                <a:path h="914400" w="4846320">
                  <a:moveTo>
                    <a:pt x="0" y="0"/>
                  </a:moveTo>
                  <a:lnTo>
                    <a:pt x="4846320" y="0"/>
                  </a:lnTo>
                  <a:lnTo>
                    <a:pt x="4846320" y="914400"/>
                  </a:lnTo>
                  <a:lnTo>
                    <a:pt x="0" y="914400"/>
                  </a:lnTo>
                  <a:close/>
                </a:path>
              </a:pathLst>
            </a:custGeom>
            <a:blipFill>
              <a:blip r:embed="rId3">
                <a:alphaModFix amt="0"/>
              </a:blip>
              <a:stretch>
                <a:fillRect l="0" t="-53270" r="0" b="-53270"/>
              </a:stretch>
            </a:blipFill>
          </p:spPr>
        </p:sp>
        <p:sp>
          <p:nvSpPr>
            <p:cNvPr name="TextBox 25" id="25"/>
            <p:cNvSpPr txBox="true"/>
            <p:nvPr/>
          </p:nvSpPr>
          <p:spPr>
            <a:xfrm>
              <a:off x="0" y="-9525"/>
              <a:ext cx="4846320" cy="923925"/>
            </a:xfrm>
            <a:prstGeom prst="rect">
              <a:avLst/>
            </a:prstGeom>
          </p:spPr>
          <p:txBody>
            <a:bodyPr anchor="ctr" rtlCol="false" tIns="0" lIns="0" bIns="0" rIns="0"/>
            <a:lstStyle/>
            <a:p>
              <a:pPr algn="l">
                <a:lnSpc>
                  <a:spcPts val="1800"/>
                </a:lnSpc>
              </a:pPr>
              <a:r>
                <a:rPr lang="en-US" sz="1500">
                  <a:solidFill>
                    <a:srgbClr val="FBFAFF"/>
                  </a:solidFill>
                  <a:latin typeface="Montserrat"/>
                  <a:ea typeface="Montserrat"/>
                  <a:cs typeface="Montserrat"/>
                  <a:sym typeface="Montserrat"/>
                </a:rPr>
                <a:t>−55.4% · 0 switches · 0.833 success</a:t>
              </a:r>
            </a:p>
          </p:txBody>
        </p:sp>
      </p:grpSp>
      <p:grpSp>
        <p:nvGrpSpPr>
          <p:cNvPr name="Group 26" id="26"/>
          <p:cNvGrpSpPr/>
          <p:nvPr/>
        </p:nvGrpSpPr>
        <p:grpSpPr>
          <a:xfrm rot="0">
            <a:off x="13441680" y="8161020"/>
            <a:ext cx="3634740" cy="685800"/>
            <a:chOff x="0" y="0"/>
            <a:chExt cx="4846320" cy="914400"/>
          </a:xfrm>
        </p:grpSpPr>
        <p:sp>
          <p:nvSpPr>
            <p:cNvPr name="Freeform 27" id="27"/>
            <p:cNvSpPr/>
            <p:nvPr/>
          </p:nvSpPr>
          <p:spPr>
            <a:xfrm flipH="false" flipV="false" rot="0">
              <a:off x="0" y="0"/>
              <a:ext cx="4846320" cy="914400"/>
            </a:xfrm>
            <a:custGeom>
              <a:avLst/>
              <a:gdLst/>
              <a:ahLst/>
              <a:cxnLst/>
              <a:rect r="r" b="b" t="t" l="l"/>
              <a:pathLst>
                <a:path h="914400" w="4846320">
                  <a:moveTo>
                    <a:pt x="0" y="0"/>
                  </a:moveTo>
                  <a:lnTo>
                    <a:pt x="4846320" y="0"/>
                  </a:lnTo>
                  <a:lnTo>
                    <a:pt x="4846320" y="914400"/>
                  </a:lnTo>
                  <a:lnTo>
                    <a:pt x="0" y="914400"/>
                  </a:lnTo>
                  <a:close/>
                </a:path>
              </a:pathLst>
            </a:custGeom>
            <a:blipFill>
              <a:blip r:embed="rId3">
                <a:alphaModFix amt="0"/>
              </a:blip>
              <a:stretch>
                <a:fillRect l="0" t="-53270" r="0" b="-53270"/>
              </a:stretch>
            </a:blipFill>
          </p:spPr>
        </p:sp>
        <p:sp>
          <p:nvSpPr>
            <p:cNvPr name="TextBox 28" id="28"/>
            <p:cNvSpPr txBox="true"/>
            <p:nvPr/>
          </p:nvSpPr>
          <p:spPr>
            <a:xfrm>
              <a:off x="0" y="-28575"/>
              <a:ext cx="4846320" cy="942975"/>
            </a:xfrm>
            <a:prstGeom prst="rect">
              <a:avLst/>
            </a:prstGeom>
          </p:spPr>
          <p:txBody>
            <a:bodyPr anchor="ctr" rtlCol="false" tIns="0" lIns="0" bIns="0" rIns="0"/>
            <a:lstStyle/>
            <a:p>
              <a:pPr algn="l">
                <a:lnSpc>
                  <a:spcPts val="1728"/>
                </a:lnSpc>
              </a:pPr>
              <a:r>
                <a:rPr lang="en-US" sz="1200" i="true">
                  <a:solidFill>
                    <a:srgbClr val="FFBD9E"/>
                  </a:solidFill>
                  <a:latin typeface="Montserrat Italics"/>
                  <a:ea typeface="Montserrat Italics"/>
                  <a:cs typeface="Montserrat Italics"/>
                  <a:sym typeface="Montserrat Italics"/>
                </a:rPr>
                <a:t>Source: results/frontier_2.csv</a:t>
              </a:r>
            </a:p>
          </p:txBody>
        </p:sp>
      </p:grpSp>
      <p:sp>
        <p:nvSpPr>
          <p:cNvPr name="Freeform 29" id="29"/>
          <p:cNvSpPr/>
          <p:nvPr/>
        </p:nvSpPr>
        <p:spPr>
          <a:xfrm flipH="false" flipV="false" rot="0">
            <a:off x="960120" y="3002687"/>
            <a:ext cx="10823447" cy="6133287"/>
          </a:xfrm>
          <a:custGeom>
            <a:avLst/>
            <a:gdLst/>
            <a:ahLst/>
            <a:cxnLst/>
            <a:rect r="r" b="b" t="t" l="l"/>
            <a:pathLst>
              <a:path h="6133287" w="10823447">
                <a:moveTo>
                  <a:pt x="0" y="0"/>
                </a:moveTo>
                <a:lnTo>
                  <a:pt x="10823447" y="0"/>
                </a:lnTo>
                <a:lnTo>
                  <a:pt x="10823447" y="6133286"/>
                </a:lnTo>
                <a:lnTo>
                  <a:pt x="0" y="6133286"/>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028700" y="2503170"/>
            <a:ext cx="15773400" cy="1400493"/>
            <a:chOff x="0" y="0"/>
            <a:chExt cx="21031200" cy="1867324"/>
          </a:xfrm>
        </p:grpSpPr>
        <p:sp>
          <p:nvSpPr>
            <p:cNvPr name="Freeform 3" id="3"/>
            <p:cNvSpPr/>
            <p:nvPr/>
          </p:nvSpPr>
          <p:spPr>
            <a:xfrm flipH="false" flipV="false" rot="0">
              <a:off x="0" y="0"/>
              <a:ext cx="21031200" cy="1867324"/>
            </a:xfrm>
            <a:custGeom>
              <a:avLst/>
              <a:gdLst/>
              <a:ahLst/>
              <a:cxnLst/>
              <a:rect r="r" b="b" t="t" l="l"/>
              <a:pathLst>
                <a:path h="1867324" w="21031200">
                  <a:moveTo>
                    <a:pt x="0" y="0"/>
                  </a:moveTo>
                  <a:lnTo>
                    <a:pt x="21031200" y="0"/>
                  </a:lnTo>
                  <a:lnTo>
                    <a:pt x="21031200" y="1867324"/>
                  </a:lnTo>
                  <a:lnTo>
                    <a:pt x="0" y="1867324"/>
                  </a:lnTo>
                  <a:close/>
                </a:path>
              </a:pathLst>
            </a:custGeom>
            <a:blipFill>
              <a:blip r:embed="rId2">
                <a:alphaModFix amt="0"/>
              </a:blip>
              <a:stretch>
                <a:fillRect l="0" t="-170486" r="0" b="-168423"/>
              </a:stretch>
            </a:blipFill>
          </p:spPr>
        </p:sp>
        <p:sp>
          <p:nvSpPr>
            <p:cNvPr name="TextBox 4" id="4"/>
            <p:cNvSpPr txBox="true"/>
            <p:nvPr/>
          </p:nvSpPr>
          <p:spPr>
            <a:xfrm>
              <a:off x="0" y="-314325"/>
              <a:ext cx="21031200" cy="2181649"/>
            </a:xfrm>
            <a:prstGeom prst="rect">
              <a:avLst/>
            </a:prstGeom>
          </p:spPr>
          <p:txBody>
            <a:bodyPr anchor="ctr" rtlCol="false" tIns="0" lIns="0" bIns="0" rIns="0"/>
            <a:lstStyle/>
            <a:p>
              <a:pPr algn="l">
                <a:lnSpc>
                  <a:spcPts val="6600"/>
                </a:lnSpc>
              </a:pPr>
              <a:r>
                <a:rPr lang="en-US" b="true" sz="5500">
                  <a:solidFill>
                    <a:srgbClr val="FFFFFF"/>
                  </a:solidFill>
                  <a:latin typeface="Prachason Neue Expanded Bold"/>
                  <a:ea typeface="Prachason Neue Expanded Bold"/>
                  <a:cs typeface="Prachason Neue Expanded Bold"/>
                  <a:sym typeface="Prachason Neue Expanded Bold"/>
                </a:rPr>
                <a:t>The trade-off we chose</a:t>
              </a:r>
            </a:p>
          </p:txBody>
        </p:sp>
      </p:grpSp>
      <p:grpSp>
        <p:nvGrpSpPr>
          <p:cNvPr name="Group 5" id="5"/>
          <p:cNvGrpSpPr/>
          <p:nvPr/>
        </p:nvGrpSpPr>
        <p:grpSpPr>
          <a:xfrm rot="0">
            <a:off x="1028700" y="4354830"/>
            <a:ext cx="11521440" cy="3017520"/>
            <a:chOff x="0" y="0"/>
            <a:chExt cx="15361920" cy="4023360"/>
          </a:xfrm>
        </p:grpSpPr>
        <p:sp>
          <p:nvSpPr>
            <p:cNvPr name="Freeform 6" id="6"/>
            <p:cNvSpPr/>
            <p:nvPr/>
          </p:nvSpPr>
          <p:spPr>
            <a:xfrm flipH="false" flipV="false" rot="0">
              <a:off x="0" y="0"/>
              <a:ext cx="15361920" cy="4023360"/>
            </a:xfrm>
            <a:custGeom>
              <a:avLst/>
              <a:gdLst/>
              <a:ahLst/>
              <a:cxnLst/>
              <a:rect r="r" b="b" t="t" l="l"/>
              <a:pathLst>
                <a:path h="4023360" w="15361920">
                  <a:moveTo>
                    <a:pt x="0" y="0"/>
                  </a:moveTo>
                  <a:lnTo>
                    <a:pt x="15361920" y="0"/>
                  </a:lnTo>
                  <a:lnTo>
                    <a:pt x="15361920" y="4023360"/>
                  </a:lnTo>
                  <a:lnTo>
                    <a:pt x="0" y="4023360"/>
                  </a:lnTo>
                  <a:close/>
                </a:path>
              </a:pathLst>
            </a:custGeom>
            <a:blipFill>
              <a:blip r:embed="rId2">
                <a:alphaModFix amt="0"/>
              </a:blip>
              <a:stretch>
                <a:fillRect l="0" t="-24397" r="0" b="-24397"/>
              </a:stretch>
            </a:blipFill>
          </p:spPr>
        </p:sp>
        <p:sp>
          <p:nvSpPr>
            <p:cNvPr name="TextBox 7" id="7"/>
            <p:cNvSpPr txBox="true"/>
            <p:nvPr/>
          </p:nvSpPr>
          <p:spPr>
            <a:xfrm>
              <a:off x="0" y="-95250"/>
              <a:ext cx="15361920" cy="4118610"/>
            </a:xfrm>
            <a:prstGeom prst="rect">
              <a:avLst/>
            </a:prstGeom>
          </p:spPr>
          <p:txBody>
            <a:bodyPr anchor="ctr" rtlCol="false" tIns="0" lIns="0" bIns="0" rIns="0"/>
            <a:lstStyle/>
            <a:p>
              <a:pPr algn="l">
                <a:lnSpc>
                  <a:spcPts val="4680"/>
                </a:lnSpc>
              </a:pPr>
              <a:r>
                <a:rPr lang="en-US" sz="3000">
                  <a:solidFill>
                    <a:srgbClr val="FFFFFF"/>
                  </a:solidFill>
                  <a:latin typeface="Montserrat"/>
                  <a:ea typeface="Montserrat"/>
                  <a:cs typeface="Montserrat"/>
                  <a:sym typeface="Montserrat"/>
                </a:rPr>
                <a:t>We optimized for cost reduction while holding expected task success roughly flat, because Viktor’s traffic is dominated by many cheap, repeatable tool-call steps where premium-model quality is rarely needed.</a:t>
              </a:r>
            </a:p>
          </p:txBody>
        </p:sp>
      </p:grpSp>
      <p:grpSp>
        <p:nvGrpSpPr>
          <p:cNvPr name="Group 8" id="8"/>
          <p:cNvGrpSpPr/>
          <p:nvPr/>
        </p:nvGrpSpPr>
        <p:grpSpPr>
          <a:xfrm rot="0">
            <a:off x="13030200" y="3429000"/>
            <a:ext cx="4251960" cy="3120901"/>
            <a:chOff x="0" y="0"/>
            <a:chExt cx="5669280" cy="4161202"/>
          </a:xfrm>
        </p:grpSpPr>
        <p:sp>
          <p:nvSpPr>
            <p:cNvPr name="Freeform 9" id="9"/>
            <p:cNvSpPr/>
            <p:nvPr/>
          </p:nvSpPr>
          <p:spPr>
            <a:xfrm flipH="false" flipV="false" rot="0">
              <a:off x="0" y="0"/>
              <a:ext cx="5669280" cy="4161202"/>
            </a:xfrm>
            <a:custGeom>
              <a:avLst/>
              <a:gdLst/>
              <a:ahLst/>
              <a:cxnLst/>
              <a:rect r="r" b="b" t="t" l="l"/>
              <a:pathLst>
                <a:path h="4161202" w="5669280">
                  <a:moveTo>
                    <a:pt x="0" y="226975"/>
                  </a:moveTo>
                  <a:cubicBezTo>
                    <a:pt x="0" y="101666"/>
                    <a:pt x="98298" y="0"/>
                    <a:pt x="219456" y="0"/>
                  </a:cubicBezTo>
                  <a:lnTo>
                    <a:pt x="5449824" y="0"/>
                  </a:lnTo>
                  <a:cubicBezTo>
                    <a:pt x="5570982" y="0"/>
                    <a:pt x="5669280" y="101666"/>
                    <a:pt x="5669280" y="226975"/>
                  </a:cubicBezTo>
                  <a:lnTo>
                    <a:pt x="5669280" y="3934227"/>
                  </a:lnTo>
                  <a:cubicBezTo>
                    <a:pt x="5669280" y="4059536"/>
                    <a:pt x="5570982" y="4161202"/>
                    <a:pt x="5449824" y="4161202"/>
                  </a:cubicBezTo>
                  <a:lnTo>
                    <a:pt x="219456" y="4161202"/>
                  </a:lnTo>
                  <a:cubicBezTo>
                    <a:pt x="98298" y="4161202"/>
                    <a:pt x="0" y="4059536"/>
                    <a:pt x="0" y="3934227"/>
                  </a:cubicBezTo>
                  <a:close/>
                </a:path>
              </a:pathLst>
            </a:custGeom>
            <a:solidFill>
              <a:srgbClr val="150079"/>
            </a:solidFill>
          </p:spPr>
        </p:sp>
      </p:grpSp>
      <p:grpSp>
        <p:nvGrpSpPr>
          <p:cNvPr name="Group 10" id="10"/>
          <p:cNvGrpSpPr/>
          <p:nvPr/>
        </p:nvGrpSpPr>
        <p:grpSpPr>
          <a:xfrm rot="0">
            <a:off x="13304520" y="3703320"/>
            <a:ext cx="3703320" cy="548640"/>
            <a:chOff x="0" y="0"/>
            <a:chExt cx="4937760" cy="731520"/>
          </a:xfrm>
        </p:grpSpPr>
        <p:sp>
          <p:nvSpPr>
            <p:cNvPr name="Freeform 11" id="11"/>
            <p:cNvSpPr/>
            <p:nvPr/>
          </p:nvSpPr>
          <p:spPr>
            <a:xfrm flipH="false" flipV="false" rot="0">
              <a:off x="0" y="0"/>
              <a:ext cx="4937760" cy="731520"/>
            </a:xfrm>
            <a:custGeom>
              <a:avLst/>
              <a:gdLst/>
              <a:ahLst/>
              <a:cxnLst/>
              <a:rect r="r" b="b" t="t" l="l"/>
              <a:pathLst>
                <a:path h="731520" w="4937760">
                  <a:moveTo>
                    <a:pt x="0" y="0"/>
                  </a:moveTo>
                  <a:lnTo>
                    <a:pt x="4937760" y="0"/>
                  </a:lnTo>
                  <a:lnTo>
                    <a:pt x="4937760" y="731520"/>
                  </a:lnTo>
                  <a:lnTo>
                    <a:pt x="0" y="731520"/>
                  </a:lnTo>
                  <a:close/>
                </a:path>
              </a:pathLst>
            </a:custGeom>
            <a:blipFill>
              <a:blip r:embed="rId2">
                <a:alphaModFix amt="0"/>
              </a:blip>
              <a:stretch>
                <a:fillRect l="0" t="-81524" r="0" b="-81524"/>
              </a:stretch>
            </a:blipFill>
          </p:spPr>
        </p:sp>
        <p:sp>
          <p:nvSpPr>
            <p:cNvPr name="TextBox 12" id="12"/>
            <p:cNvSpPr txBox="true"/>
            <p:nvPr/>
          </p:nvSpPr>
          <p:spPr>
            <a:xfrm>
              <a:off x="0" y="0"/>
              <a:ext cx="4937760" cy="731520"/>
            </a:xfrm>
            <a:prstGeom prst="rect">
              <a:avLst/>
            </a:prstGeom>
          </p:spPr>
          <p:txBody>
            <a:bodyPr anchor="ctr" rtlCol="false" tIns="0" lIns="0" bIns="0" rIns="0"/>
            <a:lstStyle/>
            <a:p>
              <a:pPr algn="l">
                <a:lnSpc>
                  <a:spcPts val="1980"/>
                </a:lnSpc>
              </a:pPr>
              <a:r>
                <a:rPr lang="en-US" b="true" sz="1650" spc="299">
                  <a:solidFill>
                    <a:srgbClr val="FFBD9E"/>
                  </a:solidFill>
                  <a:latin typeface="Montserrat Bold"/>
                  <a:ea typeface="Montserrat Bold"/>
                  <a:cs typeface="Montserrat Bold"/>
                  <a:sym typeface="Montserrat Bold"/>
                </a:rPr>
                <a:t>COST vs. SUCCESS</a:t>
              </a:r>
            </a:p>
          </p:txBody>
        </p:sp>
      </p:grpSp>
      <p:grpSp>
        <p:nvGrpSpPr>
          <p:cNvPr name="Group 13" id="13"/>
          <p:cNvGrpSpPr/>
          <p:nvPr/>
        </p:nvGrpSpPr>
        <p:grpSpPr>
          <a:xfrm rot="0">
            <a:off x="13304520" y="4320540"/>
            <a:ext cx="3703320" cy="1234440"/>
            <a:chOff x="0" y="0"/>
            <a:chExt cx="4937760" cy="1645920"/>
          </a:xfrm>
        </p:grpSpPr>
        <p:sp>
          <p:nvSpPr>
            <p:cNvPr name="Freeform 14" id="14"/>
            <p:cNvSpPr/>
            <p:nvPr/>
          </p:nvSpPr>
          <p:spPr>
            <a:xfrm flipH="false" flipV="false" rot="0">
              <a:off x="0" y="0"/>
              <a:ext cx="4937760" cy="1645920"/>
            </a:xfrm>
            <a:custGeom>
              <a:avLst/>
              <a:gdLst/>
              <a:ahLst/>
              <a:cxnLst/>
              <a:rect r="r" b="b" t="t" l="l"/>
              <a:pathLst>
                <a:path h="1645920" w="4937760">
                  <a:moveTo>
                    <a:pt x="0" y="0"/>
                  </a:moveTo>
                  <a:lnTo>
                    <a:pt x="4937760" y="0"/>
                  </a:lnTo>
                  <a:lnTo>
                    <a:pt x="4937760" y="1645920"/>
                  </a:lnTo>
                  <a:lnTo>
                    <a:pt x="0" y="1645920"/>
                  </a:lnTo>
                  <a:close/>
                </a:path>
              </a:pathLst>
            </a:custGeom>
            <a:blipFill>
              <a:blip r:embed="rId2">
                <a:alphaModFix amt="0"/>
              </a:blip>
              <a:stretch>
                <a:fillRect l="0" t="-8455" r="0" b="-8455"/>
              </a:stretch>
            </a:blipFill>
          </p:spPr>
        </p:sp>
        <p:sp>
          <p:nvSpPr>
            <p:cNvPr name="TextBox 15" id="15"/>
            <p:cNvSpPr txBox="true"/>
            <p:nvPr/>
          </p:nvSpPr>
          <p:spPr>
            <a:xfrm>
              <a:off x="0" y="0"/>
              <a:ext cx="4937760" cy="1645920"/>
            </a:xfrm>
            <a:prstGeom prst="rect">
              <a:avLst/>
            </a:prstGeom>
          </p:spPr>
          <p:txBody>
            <a:bodyPr anchor="ctr" rtlCol="false" tIns="0" lIns="0" bIns="0" rIns="0"/>
            <a:lstStyle/>
            <a:p>
              <a:pPr algn="l">
                <a:lnSpc>
                  <a:spcPts val="7200"/>
                </a:lnSpc>
              </a:pPr>
              <a:r>
                <a:rPr lang="en-US" sz="6000" b="true">
                  <a:solidFill>
                    <a:srgbClr val="FBFAFF"/>
                  </a:solidFill>
                  <a:latin typeface="Montserrat Bold"/>
                  <a:ea typeface="Montserrat Bold"/>
                  <a:cs typeface="Montserrat Bold"/>
                  <a:sym typeface="Montserrat Bold"/>
                </a:rPr>
                <a:t>0.833</a:t>
              </a:r>
            </a:p>
          </p:txBody>
        </p:sp>
      </p:grpSp>
      <p:grpSp>
        <p:nvGrpSpPr>
          <p:cNvPr name="Group 16" id="16"/>
          <p:cNvGrpSpPr/>
          <p:nvPr/>
        </p:nvGrpSpPr>
        <p:grpSpPr>
          <a:xfrm rot="0">
            <a:off x="13304520" y="5486400"/>
            <a:ext cx="3703320" cy="822960"/>
            <a:chOff x="0" y="0"/>
            <a:chExt cx="4937760" cy="1097280"/>
          </a:xfrm>
        </p:grpSpPr>
        <p:sp>
          <p:nvSpPr>
            <p:cNvPr name="Freeform 17" id="17"/>
            <p:cNvSpPr/>
            <p:nvPr/>
          </p:nvSpPr>
          <p:spPr>
            <a:xfrm flipH="false" flipV="false" rot="0">
              <a:off x="0" y="0"/>
              <a:ext cx="4937760" cy="1097280"/>
            </a:xfrm>
            <a:custGeom>
              <a:avLst/>
              <a:gdLst/>
              <a:ahLst/>
              <a:cxnLst/>
              <a:rect r="r" b="b" t="t" l="l"/>
              <a:pathLst>
                <a:path h="1097280" w="4937760">
                  <a:moveTo>
                    <a:pt x="0" y="0"/>
                  </a:moveTo>
                  <a:lnTo>
                    <a:pt x="4937760" y="0"/>
                  </a:lnTo>
                  <a:lnTo>
                    <a:pt x="4937760" y="1097280"/>
                  </a:lnTo>
                  <a:lnTo>
                    <a:pt x="0" y="1097280"/>
                  </a:lnTo>
                  <a:close/>
                </a:path>
              </a:pathLst>
            </a:custGeom>
            <a:blipFill>
              <a:blip r:embed="rId2">
                <a:alphaModFix amt="0"/>
              </a:blip>
              <a:stretch>
                <a:fillRect l="0" t="-37682" r="0" b="-37682"/>
              </a:stretch>
            </a:blipFill>
          </p:spPr>
        </p:sp>
        <p:sp>
          <p:nvSpPr>
            <p:cNvPr name="TextBox 18" id="18"/>
            <p:cNvSpPr txBox="true"/>
            <p:nvPr/>
          </p:nvSpPr>
          <p:spPr>
            <a:xfrm>
              <a:off x="0" y="0"/>
              <a:ext cx="4937760" cy="1097280"/>
            </a:xfrm>
            <a:prstGeom prst="rect">
              <a:avLst/>
            </a:prstGeom>
          </p:spPr>
          <p:txBody>
            <a:bodyPr anchor="ctr" rtlCol="false" tIns="0" lIns="0" bIns="0" rIns="0"/>
            <a:lstStyle/>
            <a:p>
              <a:pPr algn="l">
                <a:lnSpc>
                  <a:spcPts val="1980"/>
                </a:lnSpc>
              </a:pPr>
              <a:r>
                <a:rPr lang="en-US" sz="1650">
                  <a:solidFill>
                    <a:srgbClr val="FBFAFF"/>
                  </a:solidFill>
                  <a:latin typeface="Montserrat"/>
                  <a:ea typeface="Montserrat"/>
                  <a:cs typeface="Montserrat"/>
                  <a:sym typeface="Montserrat"/>
                </a:rPr>
                <a:t>matched expected success</a:t>
              </a:r>
            </a:p>
            <a:p>
              <a:pPr algn="l">
                <a:lnSpc>
                  <a:spcPts val="1980"/>
                </a:lnSpc>
              </a:pPr>
              <a:r>
                <a:rPr lang="en-US" sz="1650">
                  <a:solidFill>
                    <a:srgbClr val="FBFAFF"/>
                  </a:solidFill>
                  <a:latin typeface="Montserrat"/>
                  <a:ea typeface="Montserrat"/>
                  <a:cs typeface="Montserrat"/>
                  <a:sym typeface="Montserrat"/>
                </a:rPr>
                <a:t>vs. 0.820 baseline</a:t>
              </a:r>
            </a:p>
          </p:txBody>
        </p:sp>
      </p:grpSp>
      <p:sp>
        <p:nvSpPr>
          <p:cNvPr name="Freeform 19" id="19"/>
          <p:cNvSpPr/>
          <p:nvPr/>
        </p:nvSpPr>
        <p:spPr>
          <a:xfrm flipH="false" flipV="false" rot="0">
            <a:off x="12090793" y="-6180503"/>
            <a:ext cx="8381159" cy="8999903"/>
          </a:xfrm>
          <a:custGeom>
            <a:avLst/>
            <a:gdLst/>
            <a:ahLst/>
            <a:cxnLst/>
            <a:rect r="r" b="b" t="t" l="l"/>
            <a:pathLst>
              <a:path h="8999903" w="8381159">
                <a:moveTo>
                  <a:pt x="0" y="0"/>
                </a:moveTo>
                <a:lnTo>
                  <a:pt x="8381160" y="0"/>
                </a:lnTo>
                <a:lnTo>
                  <a:pt x="8381160" y="8999903"/>
                </a:lnTo>
                <a:lnTo>
                  <a:pt x="0" y="8999903"/>
                </a:lnTo>
                <a:lnTo>
                  <a:pt x="0" y="0"/>
                </a:lnTo>
                <a:close/>
              </a:path>
            </a:pathLst>
          </a:custGeom>
          <a:blipFill>
            <a:blip r:embed="rId3"/>
            <a:stretch>
              <a:fillRect l="0" t="0" r="0" b="0"/>
            </a:stretch>
          </a:blipFill>
        </p:spPr>
      </p:sp>
      <p:sp>
        <p:nvSpPr>
          <p:cNvPr name="Freeform 20" id="20"/>
          <p:cNvSpPr/>
          <p:nvPr/>
        </p:nvSpPr>
        <p:spPr>
          <a:xfrm flipH="false" flipV="false" rot="0">
            <a:off x="12278151" y="6916785"/>
            <a:ext cx="9500260" cy="8229600"/>
          </a:xfrm>
          <a:custGeom>
            <a:avLst/>
            <a:gdLst/>
            <a:ahLst/>
            <a:cxnLst/>
            <a:rect r="r" b="b" t="t" l="l"/>
            <a:pathLst>
              <a:path h="8229600" w="9500260">
                <a:moveTo>
                  <a:pt x="0" y="0"/>
                </a:moveTo>
                <a:lnTo>
                  <a:pt x="9500260" y="0"/>
                </a:lnTo>
                <a:lnTo>
                  <a:pt x="9500260" y="8229600"/>
                </a:lnTo>
                <a:lnTo>
                  <a:pt x="0" y="8229600"/>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677736" y="1028700"/>
            <a:ext cx="16322040" cy="1390967"/>
            <a:chOff x="0" y="0"/>
            <a:chExt cx="21762720" cy="1854623"/>
          </a:xfrm>
        </p:grpSpPr>
        <p:sp>
          <p:nvSpPr>
            <p:cNvPr name="Freeform 3" id="3"/>
            <p:cNvSpPr/>
            <p:nvPr/>
          </p:nvSpPr>
          <p:spPr>
            <a:xfrm flipH="false" flipV="false" rot="0">
              <a:off x="0" y="0"/>
              <a:ext cx="21762720" cy="1854623"/>
            </a:xfrm>
            <a:custGeom>
              <a:avLst/>
              <a:gdLst/>
              <a:ahLst/>
              <a:cxnLst/>
              <a:rect r="r" b="b" t="t" l="l"/>
              <a:pathLst>
                <a:path h="1854623" w="21762720">
                  <a:moveTo>
                    <a:pt x="0" y="0"/>
                  </a:moveTo>
                  <a:lnTo>
                    <a:pt x="21762720" y="0"/>
                  </a:lnTo>
                  <a:lnTo>
                    <a:pt x="21762720" y="1854623"/>
                  </a:lnTo>
                  <a:lnTo>
                    <a:pt x="0" y="1854623"/>
                  </a:lnTo>
                  <a:close/>
                </a:path>
              </a:pathLst>
            </a:custGeom>
            <a:blipFill>
              <a:blip r:embed="rId2">
                <a:alphaModFix amt="0"/>
              </a:blip>
              <a:stretch>
                <a:fillRect l="0" t="-191665" r="0" b="-165621"/>
              </a:stretch>
            </a:blipFill>
          </p:spPr>
        </p:sp>
        <p:sp>
          <p:nvSpPr>
            <p:cNvPr name="TextBox 4" id="4"/>
            <p:cNvSpPr txBox="true"/>
            <p:nvPr/>
          </p:nvSpPr>
          <p:spPr>
            <a:xfrm>
              <a:off x="0" y="-314325"/>
              <a:ext cx="21762720" cy="2168948"/>
            </a:xfrm>
            <a:prstGeom prst="rect">
              <a:avLst/>
            </a:prstGeom>
          </p:spPr>
          <p:txBody>
            <a:bodyPr anchor="ctr" rtlCol="false" tIns="0" lIns="0" bIns="0" rIns="0"/>
            <a:lstStyle/>
            <a:p>
              <a:pPr algn="l">
                <a:lnSpc>
                  <a:spcPts val="6599"/>
                </a:lnSpc>
              </a:pPr>
              <a:r>
                <a:rPr lang="en-US" b="true" sz="5499" spc="-137">
                  <a:solidFill>
                    <a:srgbClr val="FFFFFF"/>
                  </a:solidFill>
                  <a:latin typeface="Prachason Neue Expanded Bold"/>
                  <a:ea typeface="Prachason Neue Expanded Bold"/>
                  <a:cs typeface="Prachason Neue Expanded Bold"/>
                  <a:sym typeface="Prachason Neue Expanded Bold"/>
                </a:rPr>
                <a:t>6 Policies</a:t>
              </a:r>
            </a:p>
          </p:txBody>
        </p:sp>
      </p:grpSp>
      <p:graphicFrame>
        <p:nvGraphicFramePr>
          <p:cNvPr name="Table 5" id="5"/>
          <p:cNvGraphicFramePr>
            <a:graphicFrameLocks noGrp="true"/>
          </p:cNvGraphicFramePr>
          <p:nvPr/>
        </p:nvGraphicFramePr>
        <p:xfrm>
          <a:off x="10636490" y="3452110"/>
          <a:ext cx="6973774" cy="4961802"/>
        </p:xfrm>
        <a:graphic>
          <a:graphicData uri="http://schemas.openxmlformats.org/drawingml/2006/table">
            <a:tbl>
              <a:tblPr/>
              <a:tblGrid>
                <a:gridCol w="3775472"/>
                <a:gridCol w="1464921"/>
                <a:gridCol w="1733382"/>
              </a:tblGrid>
              <a:tr h="605261">
                <a:tc>
                  <a:txBody>
                    <a:bodyPr anchor="t" rtlCol="false"/>
                    <a:lstStyle/>
                    <a:p>
                      <a:pPr algn="l">
                        <a:lnSpc>
                          <a:spcPts val="2340"/>
                        </a:lnSpc>
                        <a:defRPr/>
                      </a:pPr>
                      <a:r>
                        <a:rPr lang="en-US" b="true" sz="1950" spc="150">
                          <a:solidFill>
                            <a:srgbClr val="FFFFFF"/>
                          </a:solidFill>
                          <a:latin typeface="Montserrat Bold"/>
                          <a:ea typeface="Montserrat Bold"/>
                          <a:cs typeface="Montserrat Bold"/>
                          <a:sym typeface="Montserrat Bold"/>
                        </a:rPr>
                        <a:t>Policy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50079"/>
                    </a:solidFill>
                  </a:tcPr>
                </a:tc>
                <a:tc>
                  <a:txBody>
                    <a:bodyPr anchor="t" rtlCol="false"/>
                    <a:lstStyle/>
                    <a:p>
                      <a:pPr algn="just">
                        <a:lnSpc>
                          <a:spcPts val="2340"/>
                        </a:lnSpc>
                        <a:defRPr/>
                      </a:pPr>
                      <a:r>
                        <a:rPr lang="en-US" b="true" sz="1950" spc="150">
                          <a:solidFill>
                            <a:srgbClr val="FFFFFF"/>
                          </a:solidFill>
                          <a:latin typeface="Montserrat Bold"/>
                          <a:ea typeface="Montserrat Bold"/>
                          <a:cs typeface="Montserrat Bold"/>
                          <a:sym typeface="Montserrat Bold"/>
                        </a:rPr>
                        <a:t>Cost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50079"/>
                    </a:solidFill>
                  </a:tcPr>
                </a:tc>
                <a:tc>
                  <a:txBody>
                    <a:bodyPr anchor="t" rtlCol="false"/>
                    <a:lstStyle/>
                    <a:p>
                      <a:pPr algn="just">
                        <a:lnSpc>
                          <a:spcPts val="2340"/>
                        </a:lnSpc>
                        <a:defRPr/>
                      </a:pPr>
                      <a:r>
                        <a:rPr lang="en-US" b="true" sz="1950" spc="150">
                          <a:solidFill>
                            <a:srgbClr val="FFFFFF"/>
                          </a:solidFill>
                          <a:latin typeface="Montserrat Bold"/>
                          <a:ea typeface="Montserrat Bold"/>
                          <a:cs typeface="Montserrat Bold"/>
                          <a:sym typeface="Montserrat Bold"/>
                        </a:rPr>
                        <a:t>Quality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50079"/>
                    </a:solidFill>
                  </a:tcPr>
                </a:tc>
              </a:tr>
              <a:tr h="923925">
                <a:tc>
                  <a:txBody>
                    <a:bodyPr anchor="t" rtlCol="false"/>
                    <a:lstStyle/>
                    <a:p>
                      <a:pPr algn="l">
                        <a:lnSpc>
                          <a:spcPts val="2520"/>
                        </a:lnSpc>
                        <a:defRPr/>
                      </a:pPr>
                      <a:r>
                        <a:rPr lang="en-US" sz="2100">
                          <a:solidFill>
                            <a:srgbClr val="150079"/>
                          </a:solidFill>
                          <a:latin typeface="Montserrat"/>
                          <a:ea typeface="Montserrat"/>
                          <a:cs typeface="Montserrat"/>
                          <a:sym typeface="Montserrat"/>
                        </a:rPr>
                        <a:t>Observed / logged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$0.2524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1.000 observed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86523">
                <a:tc>
                  <a:txBody>
                    <a:bodyPr anchor="t" rtlCol="false"/>
                    <a:lstStyle/>
                    <a:p>
                      <a:pPr algn="l">
                        <a:lnSpc>
                          <a:spcPts val="2520"/>
                        </a:lnSpc>
                        <a:defRPr/>
                      </a:pPr>
                      <a:r>
                        <a:rPr lang="en-US" sz="2100">
                          <a:solidFill>
                            <a:srgbClr val="150079"/>
                          </a:solidFill>
                          <a:latin typeface="Montserrat"/>
                          <a:ea typeface="Montserrat"/>
                          <a:cs typeface="Montserrat"/>
                          <a:sym typeface="Montserrat"/>
                        </a:rPr>
                        <a:t>Always cheapest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$0.0604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0.780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86523">
                <a:tc>
                  <a:txBody>
                    <a:bodyPr anchor="t" rtlCol="false"/>
                    <a:lstStyle/>
                    <a:p>
                      <a:pPr algn="l">
                        <a:lnSpc>
                          <a:spcPts val="2520"/>
                        </a:lnSpc>
                        <a:defRPr/>
                      </a:pPr>
                      <a:r>
                        <a:rPr lang="en-US" sz="2100">
                          <a:solidFill>
                            <a:srgbClr val="150079"/>
                          </a:solidFill>
                          <a:latin typeface="Montserrat"/>
                          <a:ea typeface="Montserrat"/>
                          <a:cs typeface="Montserrat"/>
                          <a:sym typeface="Montserrat"/>
                        </a:rPr>
                        <a:t>Always strongest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$0.4324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0.861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86523">
                <a:tc>
                  <a:txBody>
                    <a:bodyPr anchor="t" rtlCol="false"/>
                    <a:lstStyle/>
                    <a:p>
                      <a:pPr algn="l">
                        <a:lnSpc>
                          <a:spcPts val="2520"/>
                        </a:lnSpc>
                        <a:defRPr/>
                      </a:pPr>
                      <a:r>
                        <a:rPr lang="en-US" sz="2100">
                          <a:solidFill>
                            <a:srgbClr val="150079"/>
                          </a:solidFill>
                          <a:latin typeface="Montserrat"/>
                          <a:ea typeface="Montserrat"/>
                          <a:cs typeface="Montserrat"/>
                          <a:sym typeface="Montserrat"/>
                        </a:rPr>
                        <a:t>Random @ Smart cost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$0.1125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0.841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86523">
                <a:tc>
                  <a:txBody>
                    <a:bodyPr anchor="t" rtlCol="false"/>
                    <a:lstStyle/>
                    <a:p>
                      <a:pPr algn="l">
                        <a:lnSpc>
                          <a:spcPts val="2520"/>
                        </a:lnSpc>
                        <a:defRPr/>
                      </a:pPr>
                      <a:r>
                        <a:rPr lang="en-US" sz="2100">
                          <a:solidFill>
                            <a:srgbClr val="150079"/>
                          </a:solidFill>
                          <a:latin typeface="Montserrat"/>
                          <a:ea typeface="Montserrat"/>
                          <a:cs typeface="Montserrat"/>
                          <a:sym typeface="Montserrat"/>
                        </a:rPr>
                        <a:t>Viktor heuristic</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$0.0957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r">
                        <a:lnSpc>
                          <a:spcPts val="2520"/>
                        </a:lnSpc>
                        <a:defRPr/>
                      </a:pPr>
                      <a:r>
                        <a:rPr lang="en-US" sz="2100">
                          <a:solidFill>
                            <a:srgbClr val="150079"/>
                          </a:solidFill>
                          <a:latin typeface="Montserrat"/>
                          <a:ea typeface="Montserrat"/>
                          <a:cs typeface="Montserrat"/>
                          <a:sym typeface="Montserrat"/>
                        </a:rPr>
                        <a:t>0.820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86523">
                <a:tc>
                  <a:txBody>
                    <a:bodyPr anchor="t" rtlCol="false"/>
                    <a:lstStyle/>
                    <a:p>
                      <a:pPr algn="l">
                        <a:lnSpc>
                          <a:spcPts val="2520"/>
                        </a:lnSpc>
                        <a:defRPr/>
                      </a:pPr>
                      <a:r>
                        <a:rPr lang="en-US" sz="2100" b="true">
                          <a:solidFill>
                            <a:srgbClr val="150079"/>
                          </a:solidFill>
                          <a:latin typeface="Montserrat Bold"/>
                          <a:ea typeface="Montserrat Bold"/>
                          <a:cs typeface="Montserrat Bold"/>
                          <a:sym typeface="Montserrat Bold"/>
                        </a:rPr>
                        <a:t>Smart router (ours)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EDE7FF"/>
                    </a:solidFill>
                  </a:tcPr>
                </a:tc>
                <a:tc>
                  <a:txBody>
                    <a:bodyPr anchor="t" rtlCol="false"/>
                    <a:lstStyle/>
                    <a:p>
                      <a:pPr algn="r">
                        <a:lnSpc>
                          <a:spcPts val="2520"/>
                        </a:lnSpc>
                        <a:defRPr/>
                      </a:pPr>
                      <a:r>
                        <a:rPr lang="en-US" sz="2100" b="true">
                          <a:solidFill>
                            <a:srgbClr val="150079"/>
                          </a:solidFill>
                          <a:latin typeface="Montserrat Bold"/>
                          <a:ea typeface="Montserrat Bold"/>
                          <a:cs typeface="Montserrat Bold"/>
                          <a:sym typeface="Montserrat Bold"/>
                        </a:rPr>
                        <a:t>$0.1126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EDE7FF"/>
                    </a:solidFill>
                  </a:tcPr>
                </a:tc>
                <a:tc>
                  <a:txBody>
                    <a:bodyPr anchor="t" rtlCol="false"/>
                    <a:lstStyle/>
                    <a:p>
                      <a:pPr algn="r">
                        <a:lnSpc>
                          <a:spcPts val="2520"/>
                        </a:lnSpc>
                        <a:defRPr/>
                      </a:pPr>
                      <a:r>
                        <a:rPr lang="en-US" sz="2100" b="true">
                          <a:solidFill>
                            <a:srgbClr val="150079"/>
                          </a:solidFill>
                          <a:latin typeface="Montserrat Bold"/>
                          <a:ea typeface="Montserrat Bold"/>
                          <a:cs typeface="Montserrat Bold"/>
                          <a:sym typeface="Montserrat Bold"/>
                        </a:rPr>
                        <a:t>0.833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9525">
                      <a:solidFill>
                        <a:srgbClr val="D8D2F5"/>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EDE7FF"/>
                    </a:solidFill>
                  </a:tcPr>
                </a:tc>
              </a:tr>
            </a:tbl>
          </a:graphicData>
        </a:graphic>
      </p:graphicFrame>
      <p:sp>
        <p:nvSpPr>
          <p:cNvPr name="Freeform 6" id="6"/>
          <p:cNvSpPr/>
          <p:nvPr/>
        </p:nvSpPr>
        <p:spPr>
          <a:xfrm flipH="false" flipV="false" rot="0">
            <a:off x="10128983" y="-12090983"/>
            <a:ext cx="12693341" cy="13630434"/>
          </a:xfrm>
          <a:custGeom>
            <a:avLst/>
            <a:gdLst/>
            <a:ahLst/>
            <a:cxnLst/>
            <a:rect r="r" b="b" t="t" l="l"/>
            <a:pathLst>
              <a:path h="13630434" w="12693341">
                <a:moveTo>
                  <a:pt x="0" y="0"/>
                </a:moveTo>
                <a:lnTo>
                  <a:pt x="12693342" y="0"/>
                </a:lnTo>
                <a:lnTo>
                  <a:pt x="12693342" y="13630434"/>
                </a:lnTo>
                <a:lnTo>
                  <a:pt x="0" y="13630434"/>
                </a:lnTo>
                <a:lnTo>
                  <a:pt x="0" y="0"/>
                </a:lnTo>
                <a:close/>
              </a:path>
            </a:pathLst>
          </a:custGeom>
          <a:blipFill>
            <a:blip r:embed="rId3"/>
            <a:stretch>
              <a:fillRect l="0" t="0" r="0" b="0"/>
            </a:stretch>
          </a:blipFill>
        </p:spPr>
      </p:sp>
      <p:sp>
        <p:nvSpPr>
          <p:cNvPr name="Freeform 7" id="7"/>
          <p:cNvSpPr/>
          <p:nvPr/>
        </p:nvSpPr>
        <p:spPr>
          <a:xfrm flipH="false" flipV="false" rot="0">
            <a:off x="-3230460" y="8652510"/>
            <a:ext cx="8381159" cy="8999903"/>
          </a:xfrm>
          <a:custGeom>
            <a:avLst/>
            <a:gdLst/>
            <a:ahLst/>
            <a:cxnLst/>
            <a:rect r="r" b="b" t="t" l="l"/>
            <a:pathLst>
              <a:path h="8999903" w="8381159">
                <a:moveTo>
                  <a:pt x="0" y="0"/>
                </a:moveTo>
                <a:lnTo>
                  <a:pt x="8381160" y="0"/>
                </a:lnTo>
                <a:lnTo>
                  <a:pt x="8381160" y="8999903"/>
                </a:lnTo>
                <a:lnTo>
                  <a:pt x="0" y="8999903"/>
                </a:lnTo>
                <a:lnTo>
                  <a:pt x="0" y="0"/>
                </a:lnTo>
                <a:close/>
              </a:path>
            </a:pathLst>
          </a:custGeom>
          <a:blipFill>
            <a:blip r:embed="rId3"/>
            <a:stretch>
              <a:fillRect l="0" t="0" r="0" b="0"/>
            </a:stretch>
          </a:blipFill>
        </p:spPr>
      </p:sp>
      <p:sp>
        <p:nvSpPr>
          <p:cNvPr name="Freeform 8" id="8"/>
          <p:cNvSpPr/>
          <p:nvPr/>
        </p:nvSpPr>
        <p:spPr>
          <a:xfrm flipH="false" flipV="false" rot="0">
            <a:off x="677736" y="3213512"/>
            <a:ext cx="9442704" cy="5438998"/>
          </a:xfrm>
          <a:custGeom>
            <a:avLst/>
            <a:gdLst/>
            <a:ahLst/>
            <a:cxnLst/>
            <a:rect r="r" b="b" t="t" l="l"/>
            <a:pathLst>
              <a:path h="5438998" w="9442704">
                <a:moveTo>
                  <a:pt x="0" y="0"/>
                </a:moveTo>
                <a:lnTo>
                  <a:pt x="9442704" y="0"/>
                </a:lnTo>
                <a:lnTo>
                  <a:pt x="9442704" y="5438998"/>
                </a:lnTo>
                <a:lnTo>
                  <a:pt x="0" y="5438998"/>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6673535" y="8814135"/>
            <a:ext cx="4940930" cy="444165"/>
          </a:xfrm>
          <a:prstGeom prst="rect">
            <a:avLst/>
          </a:prstGeom>
        </p:spPr>
        <p:txBody>
          <a:bodyPr anchor="t" rtlCol="false" tIns="0" lIns="0" bIns="0" rIns="0">
            <a:spAutoFit/>
          </a:bodyPr>
          <a:lstStyle/>
          <a:p>
            <a:pPr algn="ctr">
              <a:lnSpc>
                <a:spcPts val="3713"/>
              </a:lnSpc>
            </a:pPr>
            <a:r>
              <a:rPr lang="en-US" sz="2509" spc="582">
                <a:solidFill>
                  <a:srgbClr val="FFFFFF"/>
                </a:solidFill>
                <a:latin typeface="Montserrat"/>
                <a:ea typeface="Montserrat"/>
                <a:cs typeface="Montserrat"/>
                <a:sym typeface="Montserrat"/>
              </a:rPr>
              <a:t>NO WAY HOME</a:t>
            </a:r>
          </a:p>
        </p:txBody>
      </p:sp>
      <p:sp>
        <p:nvSpPr>
          <p:cNvPr name="Freeform 3" id="3"/>
          <p:cNvSpPr/>
          <p:nvPr/>
        </p:nvSpPr>
        <p:spPr>
          <a:xfrm flipH="false" flipV="false" rot="0">
            <a:off x="14745487" y="-4728560"/>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399250" y="7362337"/>
            <a:ext cx="7309077" cy="7309077"/>
          </a:xfrm>
          <a:custGeom>
            <a:avLst/>
            <a:gdLst/>
            <a:ahLst/>
            <a:cxnLst/>
            <a:rect r="r" b="b" t="t" l="l"/>
            <a:pathLst>
              <a:path h="7309077" w="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988951" y="725565"/>
            <a:ext cx="8310098" cy="6236822"/>
          </a:xfrm>
          <a:custGeom>
            <a:avLst/>
            <a:gdLst/>
            <a:ahLst/>
            <a:cxnLst/>
            <a:rect r="r" b="b" t="t" l="l"/>
            <a:pathLst>
              <a:path h="6236822" w="8310098">
                <a:moveTo>
                  <a:pt x="0" y="0"/>
                </a:moveTo>
                <a:lnTo>
                  <a:pt x="8310098" y="0"/>
                </a:lnTo>
                <a:lnTo>
                  <a:pt x="8310098" y="6236822"/>
                </a:lnTo>
                <a:lnTo>
                  <a:pt x="0" y="6236822"/>
                </a:lnTo>
                <a:lnTo>
                  <a:pt x="0" y="0"/>
                </a:lnTo>
                <a:close/>
              </a:path>
            </a:pathLst>
          </a:custGeom>
          <a:blipFill>
            <a:blip r:embed="rId4"/>
            <a:stretch>
              <a:fillRect l="0" t="0" r="0" b="0"/>
            </a:stretch>
          </a:blipFill>
        </p:spPr>
      </p:sp>
      <p:sp>
        <p:nvSpPr>
          <p:cNvPr name="Freeform 6" id="6"/>
          <p:cNvSpPr/>
          <p:nvPr/>
        </p:nvSpPr>
        <p:spPr>
          <a:xfrm flipH="false" flipV="false" rot="0">
            <a:off x="7747542" y="-9678614"/>
            <a:ext cx="12693341" cy="13630434"/>
          </a:xfrm>
          <a:custGeom>
            <a:avLst/>
            <a:gdLst/>
            <a:ahLst/>
            <a:cxnLst/>
            <a:rect r="r" b="b" t="t" l="l"/>
            <a:pathLst>
              <a:path h="13630434" w="12693341">
                <a:moveTo>
                  <a:pt x="0" y="0"/>
                </a:moveTo>
                <a:lnTo>
                  <a:pt x="12693342" y="0"/>
                </a:lnTo>
                <a:lnTo>
                  <a:pt x="12693342" y="13630434"/>
                </a:lnTo>
                <a:lnTo>
                  <a:pt x="0" y="13630434"/>
                </a:lnTo>
                <a:lnTo>
                  <a:pt x="0" y="0"/>
                </a:lnTo>
                <a:close/>
              </a:path>
            </a:pathLst>
          </a:custGeom>
          <a:blipFill>
            <a:blip r:embed="rId5"/>
            <a:stretch>
              <a:fillRect l="0" t="0" r="0" b="0"/>
            </a:stretch>
          </a:blipFill>
        </p:spPr>
      </p:sp>
      <p:sp>
        <p:nvSpPr>
          <p:cNvPr name="Freeform 7" id="7"/>
          <p:cNvSpPr/>
          <p:nvPr/>
        </p:nvSpPr>
        <p:spPr>
          <a:xfrm flipH="false" flipV="false" rot="-6316790">
            <a:off x="-4285846" y="1331175"/>
            <a:ext cx="8381159" cy="11953508"/>
          </a:xfrm>
          <a:custGeom>
            <a:avLst/>
            <a:gdLst/>
            <a:ahLst/>
            <a:cxnLst/>
            <a:rect r="r" b="b" t="t" l="l"/>
            <a:pathLst>
              <a:path h="11953508" w="8381159">
                <a:moveTo>
                  <a:pt x="0" y="0"/>
                </a:moveTo>
                <a:lnTo>
                  <a:pt x="8381159" y="0"/>
                </a:lnTo>
                <a:lnTo>
                  <a:pt x="8381159" y="11953509"/>
                </a:lnTo>
                <a:lnTo>
                  <a:pt x="0" y="11953509"/>
                </a:lnTo>
                <a:lnTo>
                  <a:pt x="0" y="0"/>
                </a:lnTo>
                <a:close/>
              </a:path>
            </a:pathLst>
          </a:custGeom>
          <a:blipFill>
            <a:blip r:embed="rId5"/>
            <a:stretch>
              <a:fillRect l="-16409" t="0" r="-16409" b="0"/>
            </a:stretch>
          </a:blipFill>
        </p:spPr>
      </p:sp>
      <p:sp>
        <p:nvSpPr>
          <p:cNvPr name="TextBox 8" id="8"/>
          <p:cNvSpPr txBox="true"/>
          <p:nvPr/>
        </p:nvSpPr>
        <p:spPr>
          <a:xfrm rot="0">
            <a:off x="3238322" y="6869780"/>
            <a:ext cx="12429912" cy="2011031"/>
          </a:xfrm>
          <a:prstGeom prst="rect">
            <a:avLst/>
          </a:prstGeom>
        </p:spPr>
        <p:txBody>
          <a:bodyPr anchor="t" rtlCol="false" tIns="0" lIns="0" bIns="0" rIns="0">
            <a:spAutoFit/>
          </a:bodyPr>
          <a:lstStyle/>
          <a:p>
            <a:pPr algn="ctr">
              <a:lnSpc>
                <a:spcPts val="10789"/>
              </a:lnSpc>
            </a:pPr>
            <a:r>
              <a:rPr lang="en-US" b="true" sz="10374">
                <a:solidFill>
                  <a:srgbClr val="FFFFFF"/>
                </a:solidFill>
                <a:latin typeface="Prachason Neue Expanded Bold"/>
                <a:ea typeface="Prachason Neue Expanded Bold"/>
                <a:cs typeface="Prachason Neue Expanded Bold"/>
                <a:sym typeface="Prachason Neue Expand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DAHTGFpWLRU</dc:identifier>
  <dcterms:modified xsi:type="dcterms:W3CDTF">2011-08-01T06:04:30Z</dcterms:modified>
  <cp:revision>1</cp:revision>
  <dc:title>No Way Home</dc:title>
</cp:coreProperties>
</file>